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56.png" ContentType="image/png"/>
  <Override PartName="/ppt/media/image55.png" ContentType="image/png"/>
  <Override PartName="/ppt/media/image54.png" ContentType="image/png"/>
  <Override PartName="/ppt/media/image53.png" ContentType="image/png"/>
  <Override PartName="/ppt/media/image52.png" ContentType="image/png"/>
  <Override PartName="/ppt/media/image51.png" ContentType="image/png"/>
  <Override PartName="/ppt/media/image50.png" ContentType="image/png"/>
  <Override PartName="/ppt/media/image46.png" ContentType="image/png"/>
  <Override PartName="/ppt/media/image45.png" ContentType="image/png"/>
  <Override PartName="/ppt/media/image44.png" ContentType="image/png"/>
  <Override PartName="/ppt/media/image43.png" ContentType="image/png"/>
  <Override PartName="/ppt/media/image42.png" ContentType="image/png"/>
  <Override PartName="/ppt/media/image41.png" ContentType="image/png"/>
  <Override PartName="/ppt/media/image40.png" ContentType="image/png"/>
  <Override PartName="/ppt/media/image33.png" ContentType="image/png"/>
  <Override PartName="/ppt/media/image32.png" ContentType="image/png"/>
  <Override PartName="/ppt/media/image31.png" ContentType="image/png"/>
  <Override PartName="/ppt/media/image30.png" ContentType="image/png"/>
  <Override PartName="/ppt/media/image13.png" ContentType="image/png"/>
  <Override PartName="/ppt/media/image4.png" ContentType="image/png"/>
  <Override PartName="/ppt/media/image36.png" ContentType="image/png"/>
  <Override PartName="/ppt/media/image9.png" ContentType="image/png"/>
  <Override PartName="/ppt/media/image18.png" ContentType="image/png"/>
  <Override PartName="/ppt/media/image83.png" ContentType="image/png"/>
  <Override PartName="/ppt/media/image57.png" ContentType="image/png"/>
  <Override PartName="/ppt/media/image20.png" ContentType="image/png"/>
  <Override PartName="/ppt/media/image49.png" ContentType="image/png"/>
  <Override PartName="/ppt/media/image12.png" ContentType="image/png"/>
  <Override PartName="/ppt/media/image3.png" ContentType="image/png"/>
  <Override PartName="/ppt/media/image35.png" ContentType="image/png"/>
  <Override PartName="/ppt/media/image8.png" ContentType="image/png"/>
  <Override PartName="/ppt/media/image17.png" ContentType="image/png"/>
  <Override PartName="/ppt/media/image82.png" ContentType="image/png"/>
  <Override PartName="/ppt/media/image48.png" ContentType="image/png"/>
  <Override PartName="/ppt/media/image11.png" ContentType="image/png"/>
  <Override PartName="/ppt/media/image2.png" ContentType="image/png"/>
  <Override PartName="/ppt/media/image34.png" ContentType="image/png"/>
  <Override PartName="/ppt/media/image39.png" ContentType="image/png"/>
  <Override PartName="/ppt/media/image65.png" ContentType="image/png"/>
  <Override PartName="/ppt/media/image66.png" ContentType="image/png"/>
  <Override PartName="/ppt/media/image67.png" ContentType="image/png"/>
  <Override PartName="/ppt/media/image68.png" ContentType="image/png"/>
  <Override PartName="/ppt/media/image70.png" ContentType="image/png"/>
  <Override PartName="/ppt/media/image69.png" ContentType="image/png"/>
  <Override PartName="/ppt/media/image71.png" ContentType="image/png"/>
  <Override PartName="/ppt/media/image72.png" ContentType="image/png"/>
  <Override PartName="/ppt/media/image73.png" ContentType="image/png"/>
  <Override PartName="/ppt/media/image74.png" ContentType="image/png"/>
  <Override PartName="/ppt/media/image75.png" ContentType="image/png"/>
  <Override PartName="/ppt/media/image76.png" ContentType="image/png"/>
  <Override PartName="/ppt/media/image64.png" ContentType="image/png"/>
  <Override PartName="/ppt/media/image99.png" ContentType="image/png"/>
  <Override PartName="/ppt/media/image62.png" ContentType="image/png"/>
  <Override PartName="/ppt/media/image87.png" ContentType="image/png"/>
  <Override PartName="/ppt/media/image63.png" ContentType="image/png"/>
  <Override PartName="/ppt/media/image98.png" ContentType="image/png"/>
  <Override PartName="/ppt/media/image61.png" ContentType="image/png"/>
  <Override PartName="/ppt/media/image86.png" ContentType="image/png"/>
  <Override PartName="/ppt/media/image97.png" ContentType="image/png"/>
  <Override PartName="/ppt/media/image60.png" ContentType="image/png"/>
  <Override PartName="/ppt/media/image85.png" ContentType="image/png"/>
  <Override PartName="/ppt/media/image96.png" ContentType="image/png"/>
  <Override PartName="/ppt/media/image95.png" ContentType="image/png"/>
  <Override PartName="/ppt/media/image89.png" ContentType="image/png"/>
  <Override PartName="/ppt/media/image77.png" ContentType="image/png"/>
  <Override PartName="/ppt/media/image88.png" ContentType="image/png"/>
  <Override PartName="/ppt/media/image79.png" ContentType="image/png"/>
  <Override PartName="/ppt/media/image78.png" ContentType="image/png"/>
  <Override PartName="/ppt/media/image29.png" ContentType="image/png"/>
  <Override PartName="/ppt/media/image94.png" ContentType="image/png"/>
  <Override PartName="/ppt/media/image28.png" ContentType="image/png"/>
  <Override PartName="/ppt/media/image93.png" ContentType="image/png"/>
  <Override PartName="/ppt/media/image92.png" ContentType="image/png"/>
  <Override PartName="/ppt/media/image27.png" ContentType="image/png"/>
  <Override PartName="/ppt/media/image91.png" ContentType="image/png"/>
  <Override PartName="/ppt/media/image26.png" ContentType="image/png"/>
  <Override PartName="/ppt/media/image90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59.png" ContentType="image/png"/>
  <Override PartName="/ppt/media/image58.png" ContentType="image/png"/>
  <Override PartName="/ppt/media/image19.png" ContentType="image/png"/>
  <Override PartName="/ppt/media/image84.png" ContentType="image/png"/>
  <Override PartName="/ppt/media/image21.png" ContentType="image/png"/>
  <Override PartName="/ppt/media/image1.jpeg" ContentType="image/jpeg"/>
  <Override PartName="/ppt/media/image10.png" ContentType="image/png"/>
  <Override PartName="/ppt/media/image47.png" ContentType="image/png"/>
  <Override PartName="/ppt/media/image15.png" ContentType="image/png"/>
  <Override PartName="/ppt/media/image80.png" ContentType="image/png"/>
  <Override PartName="/ppt/media/image6.png" ContentType="image/png"/>
  <Override PartName="/ppt/media/image38.png" ContentType="image/png"/>
  <Override PartName="/ppt/media/image14.png" ContentType="image/png"/>
  <Override PartName="/ppt/media/image5.png" ContentType="image/png"/>
  <Override PartName="/ppt/media/image37.png" ContentType="image/png"/>
  <Override PartName="/ppt/media/image7.png" ContentType="image/png"/>
  <Override PartName="/ppt/media/image16.png" ContentType="image/png"/>
  <Override PartName="/ppt/media/image8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CEF10F9-A448-4FC2-AE0A-D43DBEB6191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15B74D0-C32E-49D9-A36F-E291803334C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960" cy="136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960" cy="149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228600"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78638FA-4156-42EE-8660-169F37D14C7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84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228600"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840" cy="39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28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228600"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280" cy="39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6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7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8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0F2999A-07D4-4CEF-979B-E85F5D9DB8E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4E6AFE4-92F2-4485-ACCA-F71F01FBAB7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D06BF7E-0CF2-449E-BAB7-FAAAEDCE5CD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720" cy="116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200" cy="585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720" cy="468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9EB70C5-BA25-4B24-9DCC-212C5B6BE41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960" cy="56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960" cy="80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B423499-A7DE-44FB-ABA3-721FB923D91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960" cy="146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A8730FC-3FF0-4406-B580-0F98D707D8E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BD2C035-AD1C-4ABC-B211-340FD4DBFC0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5960" cy="585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480" cy="585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A79FA35-BD6D-45C1-A7E2-BE5600AF15E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7C163714-D658-4602-BEC3-9047D9BD7B4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ftr" idx="3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ldNum" idx="3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B7098EE-500F-4450-9C93-3E49BABE7ED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dt" idx="3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Layout" Target="../slideLayouts/slideLayout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slideLayout" Target="../slideLayouts/slideLayout1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4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29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Relationship Id="rId9" Type="http://schemas.openxmlformats.org/officeDocument/2006/relationships/image" Target="../media/image55.png"/><Relationship Id="rId10" Type="http://schemas.openxmlformats.org/officeDocument/2006/relationships/image" Target="../media/image56.png"/><Relationship Id="rId11" Type="http://schemas.openxmlformats.org/officeDocument/2006/relationships/image" Target="../media/image56.png"/><Relationship Id="rId12" Type="http://schemas.openxmlformats.org/officeDocument/2006/relationships/image" Target="../media/image56.png"/><Relationship Id="rId13" Type="http://schemas.openxmlformats.org/officeDocument/2006/relationships/slideLayout" Target="../slideLayouts/slideLayout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7.png"/><Relationship Id="rId2" Type="http://schemas.openxmlformats.org/officeDocument/2006/relationships/image" Target="../media/image50.png"/><Relationship Id="rId3" Type="http://schemas.openxmlformats.org/officeDocument/2006/relationships/image" Target="../media/image29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image" Target="../media/image43.png"/><Relationship Id="rId9" Type="http://schemas.openxmlformats.org/officeDocument/2006/relationships/image" Target="../media/image60.png"/><Relationship Id="rId10" Type="http://schemas.openxmlformats.org/officeDocument/2006/relationships/slideLayout" Target="../slideLayouts/slideLayout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slideLayout" Target="../slideLayouts/slideLayout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6.png"/><Relationship Id="rId2" Type="http://schemas.openxmlformats.org/officeDocument/2006/relationships/image" Target="../media/image66.png"/><Relationship Id="rId3" Type="http://schemas.openxmlformats.org/officeDocument/2006/relationships/image" Target="../media/image66.png"/><Relationship Id="rId4" Type="http://schemas.openxmlformats.org/officeDocument/2006/relationships/image" Target="../media/image66.png"/><Relationship Id="rId5" Type="http://schemas.openxmlformats.org/officeDocument/2006/relationships/image" Target="../media/image66.png"/><Relationship Id="rId6" Type="http://schemas.openxmlformats.org/officeDocument/2006/relationships/image" Target="../media/image66.png"/><Relationship Id="rId7" Type="http://schemas.openxmlformats.org/officeDocument/2006/relationships/image" Target="../media/image66.png"/><Relationship Id="rId8" Type="http://schemas.openxmlformats.org/officeDocument/2006/relationships/image" Target="../media/image66.png"/><Relationship Id="rId9" Type="http://schemas.openxmlformats.org/officeDocument/2006/relationships/image" Target="../media/image66.png"/><Relationship Id="rId10" Type="http://schemas.openxmlformats.org/officeDocument/2006/relationships/image" Target="../media/image67.png"/><Relationship Id="rId11" Type="http://schemas.openxmlformats.org/officeDocument/2006/relationships/image" Target="../media/image68.png"/><Relationship Id="rId12" Type="http://schemas.openxmlformats.org/officeDocument/2006/relationships/image" Target="../media/image68.png"/><Relationship Id="rId13" Type="http://schemas.openxmlformats.org/officeDocument/2006/relationships/image" Target="../media/image68.png"/><Relationship Id="rId14" Type="http://schemas.openxmlformats.org/officeDocument/2006/relationships/image" Target="../media/image68.png"/><Relationship Id="rId15" Type="http://schemas.openxmlformats.org/officeDocument/2006/relationships/image" Target="../media/image69.png"/><Relationship Id="rId16" Type="http://schemas.openxmlformats.org/officeDocument/2006/relationships/image" Target="../media/image70.png"/><Relationship Id="rId17" Type="http://schemas.openxmlformats.org/officeDocument/2006/relationships/image" Target="../media/image71.png"/><Relationship Id="rId18" Type="http://schemas.openxmlformats.org/officeDocument/2006/relationships/image" Target="../media/image72.png"/><Relationship Id="rId19" Type="http://schemas.openxmlformats.org/officeDocument/2006/relationships/image" Target="../media/image73.png"/><Relationship Id="rId20" Type="http://schemas.openxmlformats.org/officeDocument/2006/relationships/slideLayout" Target="../slideLayouts/slideLayout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58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Relationship Id="rId12" Type="http://schemas.openxmlformats.org/officeDocument/2006/relationships/image" Target="../media/image78.png"/><Relationship Id="rId13" Type="http://schemas.openxmlformats.org/officeDocument/2006/relationships/slideLayout" Target="../slideLayouts/slideLayout1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9.png"/><Relationship Id="rId2" Type="http://schemas.openxmlformats.org/officeDocument/2006/relationships/image" Target="../media/image80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80.png"/><Relationship Id="rId6" Type="http://schemas.openxmlformats.org/officeDocument/2006/relationships/image" Target="../media/image81.png"/><Relationship Id="rId7" Type="http://schemas.openxmlformats.org/officeDocument/2006/relationships/image" Target="../media/image83.png"/><Relationship Id="rId8" Type="http://schemas.openxmlformats.org/officeDocument/2006/relationships/image" Target="../media/image80.png"/><Relationship Id="rId9" Type="http://schemas.openxmlformats.org/officeDocument/2006/relationships/image" Target="../media/image81.png"/><Relationship Id="rId10" Type="http://schemas.openxmlformats.org/officeDocument/2006/relationships/slideLayout" Target="../slideLayouts/slideLayout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4.png"/><Relationship Id="rId2" Type="http://schemas.openxmlformats.org/officeDocument/2006/relationships/image" Target="../media/image85.png"/><Relationship Id="rId3" Type="http://schemas.openxmlformats.org/officeDocument/2006/relationships/image" Target="../media/image85.png"/><Relationship Id="rId4" Type="http://schemas.openxmlformats.org/officeDocument/2006/relationships/image" Target="../media/image86.png"/><Relationship Id="rId5" Type="http://schemas.openxmlformats.org/officeDocument/2006/relationships/image" Target="../media/image85.png"/><Relationship Id="rId6" Type="http://schemas.openxmlformats.org/officeDocument/2006/relationships/image" Target="../media/image85.png"/><Relationship Id="rId7" Type="http://schemas.openxmlformats.org/officeDocument/2006/relationships/image" Target="../media/image87.png"/><Relationship Id="rId8" Type="http://schemas.openxmlformats.org/officeDocument/2006/relationships/image" Target="../media/image85.png"/><Relationship Id="rId9" Type="http://schemas.openxmlformats.org/officeDocument/2006/relationships/image" Target="../media/image85.png"/><Relationship Id="rId10" Type="http://schemas.openxmlformats.org/officeDocument/2006/relationships/image" Target="../media/image88.png"/><Relationship Id="rId11" Type="http://schemas.openxmlformats.org/officeDocument/2006/relationships/image" Target="../media/image85.png"/><Relationship Id="rId12" Type="http://schemas.openxmlformats.org/officeDocument/2006/relationships/image" Target="../media/image85.png"/><Relationship Id="rId13" Type="http://schemas.openxmlformats.org/officeDocument/2006/relationships/image" Target="../media/image89.png"/><Relationship Id="rId14" Type="http://schemas.openxmlformats.org/officeDocument/2006/relationships/image" Target="../media/image85.png"/><Relationship Id="rId15" Type="http://schemas.openxmlformats.org/officeDocument/2006/relationships/image" Target="../media/image85.png"/><Relationship Id="rId16" Type="http://schemas.openxmlformats.org/officeDocument/2006/relationships/image" Target="../media/image90.png"/><Relationship Id="rId17" Type="http://schemas.openxmlformats.org/officeDocument/2006/relationships/image" Target="../media/image91.png"/><Relationship Id="rId18" Type="http://schemas.openxmlformats.org/officeDocument/2006/relationships/image" Target="../media/image92.png"/><Relationship Id="rId19" Type="http://schemas.openxmlformats.org/officeDocument/2006/relationships/image" Target="../media/image93.png"/><Relationship Id="rId20" Type="http://schemas.openxmlformats.org/officeDocument/2006/relationships/slideLayout" Target="../slideLayouts/slideLayout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94.png"/><Relationship Id="rId2" Type="http://schemas.openxmlformats.org/officeDocument/2006/relationships/image" Target="../media/image95.png"/><Relationship Id="rId3" Type="http://schemas.openxmlformats.org/officeDocument/2006/relationships/image" Target="../media/image96.png"/><Relationship Id="rId4" Type="http://schemas.openxmlformats.org/officeDocument/2006/relationships/image" Target="../media/image97.png"/><Relationship Id="rId5" Type="http://schemas.openxmlformats.org/officeDocument/2006/relationships/slideLayout" Target="../slideLayouts/slideLayout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98.png"/><Relationship Id="rId2" Type="http://schemas.openxmlformats.org/officeDocument/2006/relationships/image" Target="../media/image99.png"/><Relationship Id="rId3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1"/>
          <p:cNvSpPr/>
          <p:nvPr/>
        </p:nvSpPr>
        <p:spPr>
          <a:xfrm>
            <a:off x="0" y="0"/>
            <a:ext cx="12190320" cy="6856560"/>
          </a:xfrm>
          <a:prstGeom prst="rect">
            <a:avLst/>
          </a:prstGeom>
          <a:blipFill rotWithShape="0">
            <a:blip r:embed="rId1"/>
            <a:srcRect/>
            <a:stretch/>
          </a:blip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Rectangle 2"/>
          <p:cNvSpPr/>
          <p:nvPr/>
        </p:nvSpPr>
        <p:spPr>
          <a:xfrm>
            <a:off x="-7920" y="22680"/>
            <a:ext cx="12190320" cy="6856560"/>
          </a:xfrm>
          <a:prstGeom prst="rect">
            <a:avLst/>
          </a:prstGeom>
          <a:gradFill rotWithShape="0">
            <a:gsLst>
              <a:gs pos="0">
                <a:srgbClr val="d4ea6b">
                  <a:alpha val="92000"/>
                </a:srgbClr>
              </a:gs>
              <a:gs pos="100000">
                <a:srgbClr val="0d47a1">
                  <a:alpha val="88000"/>
                </a:srgbClr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Rounded Rectangle 3"/>
          <p:cNvSpPr/>
          <p:nvPr/>
        </p:nvSpPr>
        <p:spPr>
          <a:xfrm>
            <a:off x="810720" y="112320"/>
            <a:ext cx="3008520" cy="379440"/>
          </a:xfrm>
          <a:prstGeom prst="roundRect">
            <a:avLst>
              <a:gd name="adj" fmla="val 49995000"/>
            </a:avLst>
          </a:prstGeom>
          <a:solidFill>
            <a:srgbClr val="ffffff">
              <a:alpha val="2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4"/>
          <p:cNvSpPr/>
          <p:nvPr/>
        </p:nvSpPr>
        <p:spPr>
          <a:xfrm>
            <a:off x="810720" y="112320"/>
            <a:ext cx="300852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EEE 442: Integrated Design Project II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5"/>
          <p:cNvSpPr/>
          <p:nvPr/>
        </p:nvSpPr>
        <p:spPr>
          <a:xfrm>
            <a:off x="666720" y="361800"/>
            <a:ext cx="11333160" cy="185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3110" strike="noStrike" u="none">
                <a:solidFill>
                  <a:srgbClr val="ffffff"/>
                </a:solidFill>
                <a:effectLst/>
                <a:uFillTx/>
                <a:latin typeface="Montserrat"/>
              </a:rPr>
              <a:t> Medicine Dispensing and</a:t>
            </a:r>
            <a:endParaRPr b="0" lang="en-US" sz="31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3110" strike="noStrike" u="none">
                <a:solidFill>
                  <a:srgbClr val="ffffff"/>
                </a:solidFill>
                <a:effectLst/>
                <a:uFillTx/>
                <a:latin typeface="Montserrat"/>
              </a:rPr>
              <a:t> Compliance Monitoring System</a:t>
            </a:r>
            <a:endParaRPr b="0" lang="en-US" sz="31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4224"/>
              </a:lnSpc>
              <a:spcAft>
                <a:spcPts val="1040"/>
              </a:spcAft>
            </a:pPr>
            <a:r>
              <a:rPr b="1" lang="en-US" sz="3110" strike="noStrike" u="none">
                <a:solidFill>
                  <a:srgbClr val="ffffff"/>
                </a:solidFill>
                <a:effectLst/>
                <a:uFillTx/>
                <a:latin typeface="Montserrat"/>
              </a:rPr>
              <a:t> </a:t>
            </a:r>
            <a:r>
              <a:rPr b="1" lang="en-US" sz="2750" strike="noStrike" u="none">
                <a:solidFill>
                  <a:srgbClr val="ffffff"/>
                </a:solidFill>
                <a:effectLst/>
                <a:uFillTx/>
                <a:latin typeface="Montserrat"/>
              </a:rPr>
              <a:t>Using Arduino</a:t>
            </a:r>
            <a:r>
              <a:rPr b="1" lang="en-US" sz="3110" strike="noStrike" u="none">
                <a:solidFill>
                  <a:srgbClr val="ffffff"/>
                </a:solidFill>
                <a:effectLst/>
                <a:uFillTx/>
                <a:latin typeface="Montserrat"/>
              </a:rPr>
              <a:t> </a:t>
            </a:r>
            <a:endParaRPr b="0" lang="en-US" sz="31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ounded Rectangle 6"/>
          <p:cNvSpPr/>
          <p:nvPr/>
        </p:nvSpPr>
        <p:spPr>
          <a:xfrm>
            <a:off x="666720" y="2371680"/>
            <a:ext cx="1217880" cy="3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44280" bIns="-44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0" name="Picture 8" descr="image.png"/>
          <p:cNvPicPr/>
          <p:nvPr/>
        </p:nvPicPr>
        <p:blipFill>
          <a:blip r:embed="rId2"/>
          <a:stretch/>
        </p:blipFill>
        <p:spPr>
          <a:xfrm>
            <a:off x="666720" y="3006720"/>
            <a:ext cx="227160" cy="19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extBox 9"/>
          <p:cNvSpPr/>
          <p:nvPr/>
        </p:nvSpPr>
        <p:spPr>
          <a:xfrm>
            <a:off x="1009800" y="2971800"/>
            <a:ext cx="16844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0" lang="en-US" sz="1070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Spring 2026 Semester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ounded Rectangle 10"/>
          <p:cNvSpPr/>
          <p:nvPr/>
        </p:nvSpPr>
        <p:spPr>
          <a:xfrm>
            <a:off x="666720" y="3009960"/>
            <a:ext cx="6913440" cy="354204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3" name="Picture 11" descr="image.png"/>
          <p:cNvPicPr/>
          <p:nvPr/>
        </p:nvPicPr>
        <p:blipFill>
          <a:blip r:embed="rId3"/>
          <a:stretch/>
        </p:blipFill>
        <p:spPr>
          <a:xfrm>
            <a:off x="895320" y="3319560"/>
            <a:ext cx="284400" cy="17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Box 12"/>
          <p:cNvSpPr/>
          <p:nvPr/>
        </p:nvSpPr>
        <p:spPr>
          <a:xfrm>
            <a:off x="1295280" y="3257640"/>
            <a:ext cx="137016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081"/>
              </a:lnSpc>
            </a:pPr>
            <a:r>
              <a:rPr b="1" lang="en-US" sz="143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Presented By</a:t>
            </a:r>
            <a:endParaRPr b="0" lang="en-US" sz="14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ounded Rectangle 13"/>
          <p:cNvSpPr/>
          <p:nvPr/>
        </p:nvSpPr>
        <p:spPr>
          <a:xfrm>
            <a:off x="895320" y="3809880"/>
            <a:ext cx="303480" cy="303480"/>
          </a:xfrm>
          <a:prstGeom prst="roundRect">
            <a:avLst>
              <a:gd name="adj" fmla="val 62493750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14"/>
          <p:cNvSpPr/>
          <p:nvPr/>
        </p:nvSpPr>
        <p:spPr>
          <a:xfrm>
            <a:off x="895320" y="3809880"/>
            <a:ext cx="30348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  <a:spcBef>
                <a:spcPts val="261"/>
              </a:spcBef>
            </a:pPr>
            <a:r>
              <a:rPr b="1" lang="en-US" sz="839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1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5"/>
          <p:cNvSpPr/>
          <p:nvPr/>
        </p:nvSpPr>
        <p:spPr>
          <a:xfrm>
            <a:off x="1352520" y="3772080"/>
            <a:ext cx="302760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Istiyak Ahmmed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6"/>
          <p:cNvSpPr/>
          <p:nvPr/>
        </p:nvSpPr>
        <p:spPr>
          <a:xfrm>
            <a:off x="1352520" y="4038480"/>
            <a:ext cx="302760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ID: 222001029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7"/>
          <p:cNvSpPr/>
          <p:nvPr/>
        </p:nvSpPr>
        <p:spPr>
          <a:xfrm>
            <a:off x="1352520" y="4229280"/>
            <a:ext cx="302760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Department of EEE, Green University of Bangladesh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ounded Rectangle 18"/>
          <p:cNvSpPr/>
          <p:nvPr/>
        </p:nvSpPr>
        <p:spPr>
          <a:xfrm>
            <a:off x="895320" y="4610160"/>
            <a:ext cx="303480" cy="303480"/>
          </a:xfrm>
          <a:prstGeom prst="roundRect">
            <a:avLst>
              <a:gd name="adj" fmla="val 62493750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19"/>
          <p:cNvSpPr/>
          <p:nvPr/>
        </p:nvSpPr>
        <p:spPr>
          <a:xfrm>
            <a:off x="895320" y="4610160"/>
            <a:ext cx="30348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  <a:spcBef>
                <a:spcPts val="261"/>
              </a:spcBef>
            </a:pPr>
            <a:r>
              <a:rPr b="1" lang="en-US" sz="839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2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20"/>
          <p:cNvSpPr/>
          <p:nvPr/>
        </p:nvSpPr>
        <p:spPr>
          <a:xfrm>
            <a:off x="1352520" y="4572000"/>
            <a:ext cx="302760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Nazmul Haque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21"/>
          <p:cNvSpPr/>
          <p:nvPr/>
        </p:nvSpPr>
        <p:spPr>
          <a:xfrm>
            <a:off x="1352520" y="4838760"/>
            <a:ext cx="302760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ID: 223001031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22"/>
          <p:cNvSpPr/>
          <p:nvPr/>
        </p:nvSpPr>
        <p:spPr>
          <a:xfrm>
            <a:off x="1352520" y="5029200"/>
            <a:ext cx="302760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Department of EEE, Green University of Bangladesh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23"/>
          <p:cNvSpPr/>
          <p:nvPr/>
        </p:nvSpPr>
        <p:spPr>
          <a:xfrm>
            <a:off x="895320" y="5410080"/>
            <a:ext cx="303480" cy="303480"/>
          </a:xfrm>
          <a:prstGeom prst="roundRect">
            <a:avLst>
              <a:gd name="adj" fmla="val 62493750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24"/>
          <p:cNvSpPr/>
          <p:nvPr/>
        </p:nvSpPr>
        <p:spPr>
          <a:xfrm>
            <a:off x="895320" y="5410080"/>
            <a:ext cx="30348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  <a:spcBef>
                <a:spcPts val="261"/>
              </a:spcBef>
            </a:pPr>
            <a:r>
              <a:rPr b="1" lang="en-US" sz="839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3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25"/>
          <p:cNvSpPr/>
          <p:nvPr/>
        </p:nvSpPr>
        <p:spPr>
          <a:xfrm>
            <a:off x="1352520" y="5372280"/>
            <a:ext cx="302760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Rejwan Intesar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26"/>
          <p:cNvSpPr/>
          <p:nvPr/>
        </p:nvSpPr>
        <p:spPr>
          <a:xfrm>
            <a:off x="1352520" y="5638680"/>
            <a:ext cx="302760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ID: 223001033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27"/>
          <p:cNvSpPr/>
          <p:nvPr/>
        </p:nvSpPr>
        <p:spPr>
          <a:xfrm>
            <a:off x="1352520" y="5829480"/>
            <a:ext cx="302760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Department of EEE, Green University of Bangladesh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ounded Rectangle 28"/>
          <p:cNvSpPr/>
          <p:nvPr/>
        </p:nvSpPr>
        <p:spPr>
          <a:xfrm>
            <a:off x="7810200" y="3117960"/>
            <a:ext cx="3713040" cy="1903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1" name="Picture 29" descr="image.png"/>
          <p:cNvPicPr/>
          <p:nvPr/>
        </p:nvPicPr>
        <p:blipFill>
          <a:blip r:embed="rId4"/>
          <a:stretch/>
        </p:blipFill>
        <p:spPr>
          <a:xfrm>
            <a:off x="8038800" y="3299040"/>
            <a:ext cx="284400" cy="22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extBox 30"/>
          <p:cNvSpPr/>
          <p:nvPr/>
        </p:nvSpPr>
        <p:spPr>
          <a:xfrm>
            <a:off x="8438760" y="3257640"/>
            <a:ext cx="135108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081"/>
              </a:lnSpc>
            </a:pPr>
            <a:r>
              <a:rPr b="1" lang="en-US" sz="143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Presented To</a:t>
            </a:r>
            <a:endParaRPr b="0" lang="en-US" sz="14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31"/>
          <p:cNvSpPr/>
          <p:nvPr/>
        </p:nvSpPr>
        <p:spPr>
          <a:xfrm>
            <a:off x="8038800" y="3733920"/>
            <a:ext cx="325620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  <a:spcAft>
                <a:spcPts val="519"/>
              </a:spcAft>
            </a:pPr>
            <a:r>
              <a:rPr b="1" lang="en-US" sz="120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Md. Istiac Ahmed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Picture 32" descr="image.png"/>
          <p:cNvPicPr/>
          <p:nvPr/>
        </p:nvPicPr>
        <p:blipFill>
          <a:blip r:embed="rId5"/>
          <a:stretch/>
        </p:blipFill>
        <p:spPr>
          <a:xfrm>
            <a:off x="8038800" y="4146480"/>
            <a:ext cx="169920" cy="12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extBox 33"/>
          <p:cNvSpPr/>
          <p:nvPr/>
        </p:nvSpPr>
        <p:spPr>
          <a:xfrm>
            <a:off x="8250480" y="4020480"/>
            <a:ext cx="62388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Lecturer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Picture 34" descr="image.png"/>
          <p:cNvPicPr/>
          <p:nvPr/>
        </p:nvPicPr>
        <p:blipFill>
          <a:blip r:embed="rId6"/>
          <a:stretch/>
        </p:blipFill>
        <p:spPr>
          <a:xfrm>
            <a:off x="8038800" y="4483800"/>
            <a:ext cx="169920" cy="13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TextBox 35"/>
          <p:cNvSpPr/>
          <p:nvPr/>
        </p:nvSpPr>
        <p:spPr>
          <a:xfrm>
            <a:off x="8286480" y="4363200"/>
            <a:ext cx="295632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Department of EEE, </a:t>
            </a: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Green University of Bangladesh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ectangle 41"/>
          <p:cNvSpPr/>
          <p:nvPr/>
        </p:nvSpPr>
        <p:spPr>
          <a:xfrm>
            <a:off x="0" y="6781680"/>
            <a:ext cx="12190320" cy="7488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1320" bIns="31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9" name="Picture 98" descr=""/>
          <p:cNvPicPr/>
          <p:nvPr/>
        </p:nvPicPr>
        <p:blipFill>
          <a:blip r:embed="rId7"/>
          <a:stretch/>
        </p:blipFill>
        <p:spPr>
          <a:xfrm>
            <a:off x="8824320" y="321480"/>
            <a:ext cx="3202560" cy="88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PlaceHolder 1"/>
          <p:cNvSpPr>
            <a:spLocks noGrp="1"/>
          </p:cNvSpPr>
          <p:nvPr>
            <p:ph type="sldNum" idx="37"/>
          </p:nvPr>
        </p:nvSpPr>
        <p:spPr>
          <a:xfrm>
            <a:off x="10050120" y="648720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BC103DE-0DBC-462C-BEB2-8B752BC38DD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9fafb"/>
            </a:gs>
            <a:gs pos="100000">
              <a:srgbClr val="eff6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3"/>
          <p:cNvSpPr/>
          <p:nvPr/>
        </p:nvSpPr>
        <p:spPr>
          <a:xfrm>
            <a:off x="0" y="0"/>
            <a:ext cx="12191400" cy="951840"/>
          </a:xfrm>
          <a:prstGeom prst="rect">
            <a:avLst/>
          </a:prstGeom>
          <a:solidFill>
            <a:srgbClr val="197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Rounded Rectangle 59"/>
          <p:cNvSpPr/>
          <p:nvPr/>
        </p:nvSpPr>
        <p:spPr>
          <a:xfrm>
            <a:off x="666720" y="247680"/>
            <a:ext cx="56520" cy="456480"/>
          </a:xfrm>
          <a:prstGeom prst="roundRect">
            <a:avLst>
              <a:gd name="adj" fmla="val 333300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61"/>
          <p:cNvSpPr/>
          <p:nvPr/>
        </p:nvSpPr>
        <p:spPr>
          <a:xfrm>
            <a:off x="876240" y="174240"/>
            <a:ext cx="1519200" cy="60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3900"/>
              </a:lnSpc>
            </a:pPr>
            <a:r>
              <a:rPr b="1" lang="en-US" sz="2390" strike="noStrike" u="none">
                <a:solidFill>
                  <a:srgbClr val="ffffff"/>
                </a:solidFill>
                <a:effectLst/>
                <a:uFillTx/>
                <a:latin typeface="Montserrat"/>
              </a:rPr>
              <a:t>Contents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ounded Rectangle 60"/>
          <p:cNvSpPr/>
          <p:nvPr/>
        </p:nvSpPr>
        <p:spPr>
          <a:xfrm>
            <a:off x="666720" y="1257480"/>
            <a:ext cx="5313960" cy="5328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Rounded Rectangle 61"/>
          <p:cNvSpPr/>
          <p:nvPr/>
        </p:nvSpPr>
        <p:spPr>
          <a:xfrm>
            <a:off x="781200" y="1371600"/>
            <a:ext cx="304200" cy="304200"/>
          </a:xfrm>
          <a:prstGeom prst="roundRect">
            <a:avLst>
              <a:gd name="adj" fmla="val 62493750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63"/>
          <p:cNvSpPr/>
          <p:nvPr/>
        </p:nvSpPr>
        <p:spPr>
          <a:xfrm>
            <a:off x="781200" y="1386000"/>
            <a:ext cx="26856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1" lang="en-US" sz="839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01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Picture 27" descr="image.png"/>
          <p:cNvPicPr/>
          <p:nvPr/>
        </p:nvPicPr>
        <p:blipFill>
          <a:blip r:embed="rId1"/>
          <a:stretch/>
        </p:blipFill>
        <p:spPr>
          <a:xfrm>
            <a:off x="1200240" y="1441440"/>
            <a:ext cx="189720" cy="16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Box 70"/>
          <p:cNvSpPr/>
          <p:nvPr/>
        </p:nvSpPr>
        <p:spPr>
          <a:xfrm>
            <a:off x="1504800" y="1370520"/>
            <a:ext cx="125712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Problem Statement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ounded Rectangle 62"/>
          <p:cNvSpPr/>
          <p:nvPr/>
        </p:nvSpPr>
        <p:spPr>
          <a:xfrm>
            <a:off x="666720" y="1905120"/>
            <a:ext cx="5313960" cy="5328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Rounded Rectangle 64"/>
          <p:cNvSpPr/>
          <p:nvPr/>
        </p:nvSpPr>
        <p:spPr>
          <a:xfrm>
            <a:off x="781200" y="2019240"/>
            <a:ext cx="304200" cy="304200"/>
          </a:xfrm>
          <a:prstGeom prst="roundRect">
            <a:avLst>
              <a:gd name="adj" fmla="val 62493750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Box 76"/>
          <p:cNvSpPr/>
          <p:nvPr/>
        </p:nvSpPr>
        <p:spPr>
          <a:xfrm>
            <a:off x="781200" y="2033640"/>
            <a:ext cx="26856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1" lang="en-US" sz="839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02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Picture 53" descr="image.png"/>
          <p:cNvPicPr/>
          <p:nvPr/>
        </p:nvPicPr>
        <p:blipFill>
          <a:blip r:embed="rId2"/>
          <a:stretch/>
        </p:blipFill>
        <p:spPr>
          <a:xfrm>
            <a:off x="1200240" y="2098800"/>
            <a:ext cx="189720" cy="145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TextBox 79"/>
          <p:cNvSpPr/>
          <p:nvPr/>
        </p:nvSpPr>
        <p:spPr>
          <a:xfrm>
            <a:off x="1504800" y="2018160"/>
            <a:ext cx="117000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Project Objectives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ounded Rectangle 70"/>
          <p:cNvSpPr/>
          <p:nvPr/>
        </p:nvSpPr>
        <p:spPr>
          <a:xfrm>
            <a:off x="666720" y="2552760"/>
            <a:ext cx="5313960" cy="5328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Rounded Rectangle 71"/>
          <p:cNvSpPr/>
          <p:nvPr/>
        </p:nvSpPr>
        <p:spPr>
          <a:xfrm>
            <a:off x="781200" y="2666880"/>
            <a:ext cx="304200" cy="304200"/>
          </a:xfrm>
          <a:prstGeom prst="roundRect">
            <a:avLst>
              <a:gd name="adj" fmla="val 62493750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80"/>
          <p:cNvSpPr/>
          <p:nvPr/>
        </p:nvSpPr>
        <p:spPr>
          <a:xfrm>
            <a:off x="781200" y="2681280"/>
            <a:ext cx="26856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1" lang="en-US" sz="839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03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Picture 58" descr="image.png"/>
          <p:cNvPicPr/>
          <p:nvPr/>
        </p:nvPicPr>
        <p:blipFill>
          <a:blip r:embed="rId3"/>
          <a:stretch/>
        </p:blipFill>
        <p:spPr>
          <a:xfrm>
            <a:off x="1200240" y="2743920"/>
            <a:ext cx="189720" cy="15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TextBox 81"/>
          <p:cNvSpPr/>
          <p:nvPr/>
        </p:nvSpPr>
        <p:spPr>
          <a:xfrm>
            <a:off x="1504800" y="2665800"/>
            <a:ext cx="112428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System Overview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ounded Rectangle 72"/>
          <p:cNvSpPr/>
          <p:nvPr/>
        </p:nvSpPr>
        <p:spPr>
          <a:xfrm>
            <a:off x="666720" y="3200400"/>
            <a:ext cx="5313960" cy="5328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Rounded Rectangle 74"/>
          <p:cNvSpPr/>
          <p:nvPr/>
        </p:nvSpPr>
        <p:spPr>
          <a:xfrm>
            <a:off x="781200" y="3314880"/>
            <a:ext cx="304200" cy="304200"/>
          </a:xfrm>
          <a:prstGeom prst="roundRect">
            <a:avLst>
              <a:gd name="adj" fmla="val 62493750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Box 82"/>
          <p:cNvSpPr/>
          <p:nvPr/>
        </p:nvSpPr>
        <p:spPr>
          <a:xfrm>
            <a:off x="781200" y="3329280"/>
            <a:ext cx="26856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1" lang="en-US" sz="839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04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Picture 60" descr="image.png"/>
          <p:cNvPicPr/>
          <p:nvPr/>
        </p:nvPicPr>
        <p:blipFill>
          <a:blip r:embed="rId4"/>
          <a:stretch/>
        </p:blipFill>
        <p:spPr>
          <a:xfrm>
            <a:off x="1200240" y="3385800"/>
            <a:ext cx="189720" cy="16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TextBox 83"/>
          <p:cNvSpPr/>
          <p:nvPr/>
        </p:nvSpPr>
        <p:spPr>
          <a:xfrm>
            <a:off x="1504800" y="3313440"/>
            <a:ext cx="241272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Hardware Components &amp; Specifications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ounded Rectangle 80"/>
          <p:cNvSpPr/>
          <p:nvPr/>
        </p:nvSpPr>
        <p:spPr>
          <a:xfrm>
            <a:off x="666720" y="3883680"/>
            <a:ext cx="5313960" cy="5328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Rounded Rectangle 81"/>
          <p:cNvSpPr/>
          <p:nvPr/>
        </p:nvSpPr>
        <p:spPr>
          <a:xfrm>
            <a:off x="781200" y="3997800"/>
            <a:ext cx="304200" cy="304200"/>
          </a:xfrm>
          <a:prstGeom prst="roundRect">
            <a:avLst>
              <a:gd name="adj" fmla="val 62493750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94"/>
          <p:cNvSpPr/>
          <p:nvPr/>
        </p:nvSpPr>
        <p:spPr>
          <a:xfrm>
            <a:off x="781200" y="4012200"/>
            <a:ext cx="26820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1" lang="en-US" sz="839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05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Picture 67" descr="image.png"/>
          <p:cNvPicPr/>
          <p:nvPr/>
        </p:nvPicPr>
        <p:blipFill>
          <a:blip r:embed="rId5"/>
          <a:stretch/>
        </p:blipFill>
        <p:spPr>
          <a:xfrm>
            <a:off x="1200240" y="4074480"/>
            <a:ext cx="189720" cy="15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Box 95"/>
          <p:cNvSpPr/>
          <p:nvPr/>
        </p:nvSpPr>
        <p:spPr>
          <a:xfrm>
            <a:off x="1504800" y="3996720"/>
            <a:ext cx="129096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System Architecture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ounded Rectangle 82"/>
          <p:cNvSpPr/>
          <p:nvPr/>
        </p:nvSpPr>
        <p:spPr>
          <a:xfrm>
            <a:off x="666720" y="4531320"/>
            <a:ext cx="5313960" cy="5328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Rounded Rectangle 83"/>
          <p:cNvSpPr/>
          <p:nvPr/>
        </p:nvSpPr>
        <p:spPr>
          <a:xfrm>
            <a:off x="781200" y="4645440"/>
            <a:ext cx="304200" cy="304200"/>
          </a:xfrm>
          <a:prstGeom prst="roundRect">
            <a:avLst>
              <a:gd name="adj" fmla="val 62493750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96"/>
          <p:cNvSpPr/>
          <p:nvPr/>
        </p:nvSpPr>
        <p:spPr>
          <a:xfrm>
            <a:off x="781200" y="4659840"/>
            <a:ext cx="26820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1" lang="en-US" sz="839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06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Picture 69" descr="image.png"/>
          <p:cNvPicPr/>
          <p:nvPr/>
        </p:nvPicPr>
        <p:blipFill>
          <a:blip r:embed="rId6"/>
          <a:stretch/>
        </p:blipFill>
        <p:spPr>
          <a:xfrm>
            <a:off x="1200240" y="4722120"/>
            <a:ext cx="189720" cy="15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TextBox 97"/>
          <p:cNvSpPr/>
          <p:nvPr/>
        </p:nvSpPr>
        <p:spPr>
          <a:xfrm>
            <a:off x="1504800" y="4644360"/>
            <a:ext cx="94176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Circuit Design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ounded Rectangle 84"/>
          <p:cNvSpPr/>
          <p:nvPr/>
        </p:nvSpPr>
        <p:spPr>
          <a:xfrm>
            <a:off x="666720" y="5178960"/>
            <a:ext cx="5313960" cy="5328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Rounded Rectangle 85"/>
          <p:cNvSpPr/>
          <p:nvPr/>
        </p:nvSpPr>
        <p:spPr>
          <a:xfrm>
            <a:off x="781200" y="5293080"/>
            <a:ext cx="304200" cy="304200"/>
          </a:xfrm>
          <a:prstGeom prst="roundRect">
            <a:avLst>
              <a:gd name="adj" fmla="val 62493750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Box 98"/>
          <p:cNvSpPr/>
          <p:nvPr/>
        </p:nvSpPr>
        <p:spPr>
          <a:xfrm>
            <a:off x="781200" y="5307480"/>
            <a:ext cx="26820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1" lang="en-US" sz="839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07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7" name="Picture 71" descr="image.png"/>
          <p:cNvPicPr/>
          <p:nvPr/>
        </p:nvPicPr>
        <p:blipFill>
          <a:blip r:embed="rId7"/>
          <a:stretch/>
        </p:blipFill>
        <p:spPr>
          <a:xfrm>
            <a:off x="1200240" y="5392440"/>
            <a:ext cx="189720" cy="10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TextBox 99"/>
          <p:cNvSpPr/>
          <p:nvPr/>
        </p:nvSpPr>
        <p:spPr>
          <a:xfrm>
            <a:off x="1504800" y="5292000"/>
            <a:ext cx="101304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Algorithm Flow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ounded Rectangle 88"/>
          <p:cNvSpPr/>
          <p:nvPr/>
        </p:nvSpPr>
        <p:spPr>
          <a:xfrm>
            <a:off x="6210000" y="1257120"/>
            <a:ext cx="5313960" cy="5328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Rounded Rectangle 89"/>
          <p:cNvSpPr/>
          <p:nvPr/>
        </p:nvSpPr>
        <p:spPr>
          <a:xfrm>
            <a:off x="6324480" y="1371240"/>
            <a:ext cx="304200" cy="304200"/>
          </a:xfrm>
          <a:prstGeom prst="roundRect">
            <a:avLst>
              <a:gd name="adj" fmla="val 62493750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TextBox 102"/>
          <p:cNvSpPr/>
          <p:nvPr/>
        </p:nvSpPr>
        <p:spPr>
          <a:xfrm>
            <a:off x="6324480" y="1385640"/>
            <a:ext cx="26820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1" lang="en-US" sz="839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08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" name="Picture 75" descr="image.png"/>
          <p:cNvPicPr/>
          <p:nvPr/>
        </p:nvPicPr>
        <p:blipFill>
          <a:blip r:embed="rId8"/>
          <a:stretch/>
        </p:blipFill>
        <p:spPr>
          <a:xfrm>
            <a:off x="6743520" y="1446480"/>
            <a:ext cx="189720" cy="15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TextBox 103"/>
          <p:cNvSpPr/>
          <p:nvPr/>
        </p:nvSpPr>
        <p:spPr>
          <a:xfrm>
            <a:off x="7048440" y="1370160"/>
            <a:ext cx="151812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System Implementation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ounded Rectangle 90"/>
          <p:cNvSpPr/>
          <p:nvPr/>
        </p:nvSpPr>
        <p:spPr>
          <a:xfrm>
            <a:off x="6210000" y="1904760"/>
            <a:ext cx="5313960" cy="5328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Rounded Rectangle 91"/>
          <p:cNvSpPr/>
          <p:nvPr/>
        </p:nvSpPr>
        <p:spPr>
          <a:xfrm>
            <a:off x="6324480" y="2018880"/>
            <a:ext cx="304200" cy="304200"/>
          </a:xfrm>
          <a:prstGeom prst="roundRect">
            <a:avLst>
              <a:gd name="adj" fmla="val 62493750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104"/>
          <p:cNvSpPr/>
          <p:nvPr/>
        </p:nvSpPr>
        <p:spPr>
          <a:xfrm>
            <a:off x="6324480" y="2033280"/>
            <a:ext cx="26820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1" lang="en-US" sz="839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09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7" name="Picture 77" descr="image.png"/>
          <p:cNvPicPr/>
          <p:nvPr/>
        </p:nvPicPr>
        <p:blipFill>
          <a:blip r:embed="rId9"/>
          <a:stretch/>
        </p:blipFill>
        <p:spPr>
          <a:xfrm>
            <a:off x="6743520" y="2095920"/>
            <a:ext cx="189720" cy="15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TextBox 105"/>
          <p:cNvSpPr/>
          <p:nvPr/>
        </p:nvSpPr>
        <p:spPr>
          <a:xfrm>
            <a:off x="7048440" y="2017800"/>
            <a:ext cx="146484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Cost Analysis &amp; Budget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ounded Rectangle 96"/>
          <p:cNvSpPr/>
          <p:nvPr/>
        </p:nvSpPr>
        <p:spPr>
          <a:xfrm>
            <a:off x="6210000" y="2587680"/>
            <a:ext cx="5313960" cy="5328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Rounded Rectangle 97"/>
          <p:cNvSpPr/>
          <p:nvPr/>
        </p:nvSpPr>
        <p:spPr>
          <a:xfrm>
            <a:off x="6324480" y="2702160"/>
            <a:ext cx="304200" cy="304200"/>
          </a:xfrm>
          <a:prstGeom prst="roundRect">
            <a:avLst>
              <a:gd name="adj" fmla="val 62493750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110"/>
          <p:cNvSpPr/>
          <p:nvPr/>
        </p:nvSpPr>
        <p:spPr>
          <a:xfrm>
            <a:off x="6324480" y="2716560"/>
            <a:ext cx="26820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1" lang="en-US" sz="839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10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2" name="Picture 80" descr="image.png"/>
          <p:cNvPicPr/>
          <p:nvPr/>
        </p:nvPicPr>
        <p:blipFill>
          <a:blip r:embed="rId10"/>
          <a:stretch/>
        </p:blipFill>
        <p:spPr>
          <a:xfrm>
            <a:off x="6743520" y="2763360"/>
            <a:ext cx="189720" cy="18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TextBox 111"/>
          <p:cNvSpPr/>
          <p:nvPr/>
        </p:nvSpPr>
        <p:spPr>
          <a:xfrm>
            <a:off x="7048440" y="2701080"/>
            <a:ext cx="145944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Challenges &amp; Solutions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ounded Rectangle 98"/>
          <p:cNvSpPr/>
          <p:nvPr/>
        </p:nvSpPr>
        <p:spPr>
          <a:xfrm>
            <a:off x="6210000" y="3235680"/>
            <a:ext cx="5313960" cy="5328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Rounded Rectangle 99"/>
          <p:cNvSpPr/>
          <p:nvPr/>
        </p:nvSpPr>
        <p:spPr>
          <a:xfrm>
            <a:off x="6324480" y="3349800"/>
            <a:ext cx="304200" cy="304200"/>
          </a:xfrm>
          <a:prstGeom prst="roundRect">
            <a:avLst>
              <a:gd name="adj" fmla="val 62493750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112"/>
          <p:cNvSpPr/>
          <p:nvPr/>
        </p:nvSpPr>
        <p:spPr>
          <a:xfrm>
            <a:off x="6324480" y="3364200"/>
            <a:ext cx="26820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1" lang="en-US" sz="839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11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7" name="Picture 81" descr="image.png"/>
          <p:cNvPicPr/>
          <p:nvPr/>
        </p:nvPicPr>
        <p:blipFill>
          <a:blip r:embed="rId11"/>
          <a:stretch/>
        </p:blipFill>
        <p:spPr>
          <a:xfrm>
            <a:off x="6743520" y="3422520"/>
            <a:ext cx="189720" cy="15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TextBox 113"/>
          <p:cNvSpPr/>
          <p:nvPr/>
        </p:nvSpPr>
        <p:spPr>
          <a:xfrm>
            <a:off x="7048440" y="3348720"/>
            <a:ext cx="140292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Future Enhancements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ounded Rectangle 100"/>
          <p:cNvSpPr/>
          <p:nvPr/>
        </p:nvSpPr>
        <p:spPr>
          <a:xfrm>
            <a:off x="6210000" y="3883320"/>
            <a:ext cx="5313960" cy="570960"/>
          </a:xfrm>
          <a:prstGeom prst="roundRect">
            <a:avLst>
              <a:gd name="adj" fmla="val 26666"/>
            </a:avLst>
          </a:prstGeom>
          <a:gradFill rotWithShape="0">
            <a:gsLst>
              <a:gs pos="0">
                <a:srgbClr val="eff6ff"/>
              </a:gs>
              <a:gs pos="100000">
                <a:srgbClr val="dbeafe"/>
              </a:gs>
            </a:gsLst>
            <a:lin ang="10800000"/>
          </a:gradFill>
          <a:ln w="16510">
            <a:solidFill>
              <a:srgbClr val="bfdb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Rounded Rectangle 101"/>
          <p:cNvSpPr/>
          <p:nvPr/>
        </p:nvSpPr>
        <p:spPr>
          <a:xfrm>
            <a:off x="6343560" y="4016520"/>
            <a:ext cx="304200" cy="304200"/>
          </a:xfrm>
          <a:prstGeom prst="roundRect">
            <a:avLst>
              <a:gd name="adj" fmla="val 62493750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114"/>
          <p:cNvSpPr/>
          <p:nvPr/>
        </p:nvSpPr>
        <p:spPr>
          <a:xfrm>
            <a:off x="6343560" y="4030920"/>
            <a:ext cx="26820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1" lang="en-US" sz="839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12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2" name="Picture 82" descr="image.png"/>
          <p:cNvPicPr/>
          <p:nvPr/>
        </p:nvPicPr>
        <p:blipFill>
          <a:blip r:embed="rId12"/>
          <a:stretch/>
        </p:blipFill>
        <p:spPr>
          <a:xfrm>
            <a:off x="6762600" y="4087800"/>
            <a:ext cx="189720" cy="16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TextBox 115"/>
          <p:cNvSpPr/>
          <p:nvPr/>
        </p:nvSpPr>
        <p:spPr>
          <a:xfrm>
            <a:off x="7067520" y="4015440"/>
            <a:ext cx="124056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1" lang="en-US" sz="96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Conclusion &amp; Q&amp;A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1"/>
          <p:cNvSpPr>
            <a:spLocks noGrp="1"/>
          </p:cNvSpPr>
          <p:nvPr>
            <p:ph type="sldNum" idx="38"/>
          </p:nvPr>
        </p:nvSpPr>
        <p:spPr>
          <a:xfrm>
            <a:off x="10058400" y="64933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05D9BFE-B0FD-4E9A-A938-38FFB56959E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9fafb"/>
            </a:gs>
            <a:gs pos="100000">
              <a:srgbClr val="eff6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ctangle 1"/>
          <p:cNvSpPr/>
          <p:nvPr/>
        </p:nvSpPr>
        <p:spPr>
          <a:xfrm>
            <a:off x="0" y="0"/>
            <a:ext cx="12190320" cy="951120"/>
          </a:xfrm>
          <a:prstGeom prst="rect">
            <a:avLst/>
          </a:prstGeom>
          <a:solidFill>
            <a:srgbClr val="197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Rounded Rectangle 2"/>
          <p:cNvSpPr/>
          <p:nvPr/>
        </p:nvSpPr>
        <p:spPr>
          <a:xfrm>
            <a:off x="666720" y="247680"/>
            <a:ext cx="55800" cy="455760"/>
          </a:xfrm>
          <a:prstGeom prst="roundRect">
            <a:avLst>
              <a:gd name="adj" fmla="val 333300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Box 3"/>
          <p:cNvSpPr/>
          <p:nvPr/>
        </p:nvSpPr>
        <p:spPr>
          <a:xfrm>
            <a:off x="876240" y="190440"/>
            <a:ext cx="3913200" cy="57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3900"/>
              </a:lnSpc>
            </a:pPr>
            <a:r>
              <a:rPr b="1" lang="en-US" sz="2390" strike="noStrike" u="none">
                <a:solidFill>
                  <a:srgbClr val="ffffff"/>
                </a:solidFill>
                <a:effectLst/>
                <a:uFillTx/>
                <a:latin typeface="Montserrat"/>
              </a:rPr>
              <a:t>Problem Statement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4"/>
          <p:cNvSpPr/>
          <p:nvPr/>
        </p:nvSpPr>
        <p:spPr>
          <a:xfrm>
            <a:off x="666720" y="1409760"/>
            <a:ext cx="1085688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081"/>
              </a:lnSpc>
            </a:pPr>
            <a:r>
              <a:rPr b="0" lang="en-US" sz="1200" strike="noStrike" u="none">
                <a:solidFill>
                  <a:srgbClr val="374151"/>
                </a:solidFill>
                <a:effectLst/>
                <a:uFillTx/>
                <a:latin typeface="Roboto"/>
              </a:rPr>
              <a:t>Medication non-adherence is a critical healthcare challenge affecting patient outcomes and treatment effectiveness.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Rounded Rectangle 5"/>
          <p:cNvSpPr/>
          <p:nvPr/>
        </p:nvSpPr>
        <p:spPr>
          <a:xfrm>
            <a:off x="666720" y="2095560"/>
            <a:ext cx="3465720" cy="2036880"/>
          </a:xfrm>
          <a:prstGeom prst="roundRect">
            <a:avLst>
              <a:gd name="adj" fmla="val 11214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Round Same Side Corner Rectangle 6"/>
          <p:cNvSpPr/>
          <p:nvPr/>
        </p:nvSpPr>
        <p:spPr>
          <a:xfrm rot="16200000">
            <a:off x="-285120" y="3049920"/>
            <a:ext cx="2036880" cy="1306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97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71" name="Picture 7" descr="image.png"/>
          <p:cNvPicPr/>
          <p:nvPr/>
        </p:nvPicPr>
        <p:blipFill>
          <a:blip r:embed="rId1"/>
          <a:stretch/>
        </p:blipFill>
        <p:spPr>
          <a:xfrm>
            <a:off x="933480" y="2368440"/>
            <a:ext cx="341280" cy="29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TextBox 8"/>
          <p:cNvSpPr/>
          <p:nvPr/>
        </p:nvSpPr>
        <p:spPr>
          <a:xfrm>
            <a:off x="1390680" y="2381400"/>
            <a:ext cx="107496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20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Health Risks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9"/>
          <p:cNvSpPr/>
          <p:nvPr/>
        </p:nvSpPr>
        <p:spPr>
          <a:xfrm>
            <a:off x="933480" y="2857680"/>
            <a:ext cx="2970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28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</a:t>
            </a:r>
            <a:r>
              <a:rPr b="0" lang="en-US" sz="960" strike="noStrike" u="none">
                <a:solidFill>
                  <a:srgbClr val="1976d2"/>
                </a:solidFill>
                <a:effectLst/>
                <a:uFillTx/>
                <a:latin typeface="Roboto"/>
              </a:rPr>
              <a:t>•</a:t>
            </a: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Missed doses complications 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10"/>
          <p:cNvSpPr/>
          <p:nvPr/>
        </p:nvSpPr>
        <p:spPr>
          <a:xfrm>
            <a:off x="933480" y="3162240"/>
            <a:ext cx="2970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2880" rIns="73080" tIns="54720" bIns="54720" anchor="ctr">
            <a:spAutoFit/>
          </a:bodyPr>
          <a:p>
            <a:pPr defTabSz="457200">
              <a:lnSpc>
                <a:spcPts val="1559"/>
              </a:lnSpc>
              <a:spcBef>
                <a:spcPts val="519"/>
              </a:spcBef>
            </a:pP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</a:t>
            </a:r>
            <a:r>
              <a:rPr b="0" lang="en-US" sz="960" strike="noStrike" u="none">
                <a:solidFill>
                  <a:srgbClr val="1976d2"/>
                </a:solidFill>
                <a:effectLst/>
                <a:uFillTx/>
                <a:latin typeface="Roboto"/>
              </a:rPr>
              <a:t>•</a:t>
            </a: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Delayed recovery 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11"/>
          <p:cNvSpPr/>
          <p:nvPr/>
        </p:nvSpPr>
        <p:spPr>
          <a:xfrm>
            <a:off x="933480" y="3467160"/>
            <a:ext cx="2970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2880" rIns="73080" tIns="54720" bIns="54720" anchor="ctr">
            <a:spAutoFit/>
          </a:bodyPr>
          <a:p>
            <a:pPr defTabSz="457200">
              <a:lnSpc>
                <a:spcPts val="1559"/>
              </a:lnSpc>
              <a:spcBef>
                <a:spcPts val="519"/>
              </a:spcBef>
            </a:pP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</a:t>
            </a:r>
            <a:r>
              <a:rPr b="0" lang="en-US" sz="960" strike="noStrike" u="none">
                <a:solidFill>
                  <a:srgbClr val="1976d2"/>
                </a:solidFill>
                <a:effectLst/>
                <a:uFillTx/>
                <a:latin typeface="Roboto"/>
              </a:rPr>
              <a:t>•</a:t>
            </a: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Treatment failure 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ounded Rectangle 12"/>
          <p:cNvSpPr/>
          <p:nvPr/>
        </p:nvSpPr>
        <p:spPr>
          <a:xfrm>
            <a:off x="4362480" y="2095560"/>
            <a:ext cx="3465720" cy="2036880"/>
          </a:xfrm>
          <a:prstGeom prst="roundRect">
            <a:avLst>
              <a:gd name="adj" fmla="val 11214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Round Same Side Corner Rectangle 13"/>
          <p:cNvSpPr/>
          <p:nvPr/>
        </p:nvSpPr>
        <p:spPr>
          <a:xfrm rot="16200000">
            <a:off x="3409200" y="3049920"/>
            <a:ext cx="2036880" cy="1306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97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78" name="Picture 14" descr="image.png"/>
          <p:cNvPicPr/>
          <p:nvPr/>
        </p:nvPicPr>
        <p:blipFill>
          <a:blip r:embed="rId2"/>
          <a:stretch/>
        </p:blipFill>
        <p:spPr>
          <a:xfrm>
            <a:off x="4628880" y="2369880"/>
            <a:ext cx="341280" cy="288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TextBox 15"/>
          <p:cNvSpPr/>
          <p:nvPr/>
        </p:nvSpPr>
        <p:spPr>
          <a:xfrm>
            <a:off x="5086080" y="2381400"/>
            <a:ext cx="153216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20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Adherence Issues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16"/>
          <p:cNvSpPr/>
          <p:nvPr/>
        </p:nvSpPr>
        <p:spPr>
          <a:xfrm>
            <a:off x="4628880" y="2857680"/>
            <a:ext cx="2970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28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</a:t>
            </a:r>
            <a:r>
              <a:rPr b="0" lang="en-US" sz="960" strike="noStrike" u="none">
                <a:solidFill>
                  <a:srgbClr val="1976d2"/>
                </a:solidFill>
                <a:effectLst/>
                <a:uFillTx/>
                <a:latin typeface="Roboto"/>
              </a:rPr>
              <a:t>•</a:t>
            </a: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Complex schedules 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17"/>
          <p:cNvSpPr/>
          <p:nvPr/>
        </p:nvSpPr>
        <p:spPr>
          <a:xfrm>
            <a:off x="4628880" y="3162240"/>
            <a:ext cx="2970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2880" rIns="73080" tIns="54720" bIns="54720" anchor="ctr">
            <a:spAutoFit/>
          </a:bodyPr>
          <a:p>
            <a:pPr defTabSz="457200">
              <a:lnSpc>
                <a:spcPts val="1559"/>
              </a:lnSpc>
              <a:spcBef>
                <a:spcPts val="519"/>
              </a:spcBef>
            </a:pP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</a:t>
            </a:r>
            <a:r>
              <a:rPr b="0" lang="en-US" sz="960" strike="noStrike" u="none">
                <a:solidFill>
                  <a:srgbClr val="1976d2"/>
                </a:solidFill>
                <a:effectLst/>
                <a:uFillTx/>
                <a:latin typeface="Roboto"/>
              </a:rPr>
              <a:t>•</a:t>
            </a: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Human forgetfulness 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18"/>
          <p:cNvSpPr/>
          <p:nvPr/>
        </p:nvSpPr>
        <p:spPr>
          <a:xfrm>
            <a:off x="4628880" y="3467160"/>
            <a:ext cx="2970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2880" rIns="73080" tIns="54720" bIns="54720" anchor="ctr">
            <a:spAutoFit/>
          </a:bodyPr>
          <a:p>
            <a:pPr defTabSz="457200">
              <a:lnSpc>
                <a:spcPts val="1559"/>
              </a:lnSpc>
              <a:spcBef>
                <a:spcPts val="519"/>
              </a:spcBef>
            </a:pP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</a:t>
            </a:r>
            <a:r>
              <a:rPr b="0" lang="en-US" sz="960" strike="noStrike" u="none">
                <a:solidFill>
                  <a:srgbClr val="1976d2"/>
                </a:solidFill>
                <a:effectLst/>
                <a:uFillTx/>
                <a:latin typeface="Roboto"/>
              </a:rPr>
              <a:t>•</a:t>
            </a: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Lack of reminders 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ounded Rectangle 19"/>
          <p:cNvSpPr/>
          <p:nvPr/>
        </p:nvSpPr>
        <p:spPr>
          <a:xfrm>
            <a:off x="8057880" y="2095560"/>
            <a:ext cx="3465720" cy="2036880"/>
          </a:xfrm>
          <a:prstGeom prst="roundRect">
            <a:avLst>
              <a:gd name="adj" fmla="val 11214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Round Same Side Corner Rectangle 20"/>
          <p:cNvSpPr/>
          <p:nvPr/>
        </p:nvSpPr>
        <p:spPr>
          <a:xfrm rot="16200000">
            <a:off x="7104600" y="3049920"/>
            <a:ext cx="2036880" cy="1306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97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85" name="Picture 21" descr="image.png"/>
          <p:cNvPicPr/>
          <p:nvPr/>
        </p:nvPicPr>
        <p:blipFill>
          <a:blip r:embed="rId3"/>
          <a:stretch/>
        </p:blipFill>
        <p:spPr>
          <a:xfrm>
            <a:off x="8324640" y="2381400"/>
            <a:ext cx="341280" cy="26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6" name="TextBox 22"/>
          <p:cNvSpPr/>
          <p:nvPr/>
        </p:nvSpPr>
        <p:spPr>
          <a:xfrm>
            <a:off x="8781840" y="2381400"/>
            <a:ext cx="98928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20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User Needs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23"/>
          <p:cNvSpPr/>
          <p:nvPr/>
        </p:nvSpPr>
        <p:spPr>
          <a:xfrm>
            <a:off x="8324640" y="2857680"/>
            <a:ext cx="2970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28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</a:t>
            </a:r>
            <a:r>
              <a:rPr b="0" lang="en-US" sz="960" strike="noStrike" u="none">
                <a:solidFill>
                  <a:srgbClr val="1976d2"/>
                </a:solidFill>
                <a:effectLst/>
                <a:uFillTx/>
                <a:latin typeface="Roboto"/>
              </a:rPr>
              <a:t>•</a:t>
            </a: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Automated dispensing 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24"/>
          <p:cNvSpPr/>
          <p:nvPr/>
        </p:nvSpPr>
        <p:spPr>
          <a:xfrm>
            <a:off x="8324640" y="3162240"/>
            <a:ext cx="2970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2880" rIns="73080" tIns="54720" bIns="54720" anchor="ctr">
            <a:spAutoFit/>
          </a:bodyPr>
          <a:p>
            <a:pPr defTabSz="457200">
              <a:lnSpc>
                <a:spcPts val="1559"/>
              </a:lnSpc>
              <a:spcBef>
                <a:spcPts val="519"/>
              </a:spcBef>
            </a:pP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</a:t>
            </a:r>
            <a:r>
              <a:rPr b="0" lang="en-US" sz="960" strike="noStrike" u="none">
                <a:solidFill>
                  <a:srgbClr val="1976d2"/>
                </a:solidFill>
                <a:effectLst/>
                <a:uFillTx/>
                <a:latin typeface="Roboto"/>
              </a:rPr>
              <a:t>•</a:t>
            </a: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Easy scheduling 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25"/>
          <p:cNvSpPr/>
          <p:nvPr/>
        </p:nvSpPr>
        <p:spPr>
          <a:xfrm>
            <a:off x="8324640" y="3467160"/>
            <a:ext cx="2970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2880" rIns="73080" tIns="54720" bIns="54720" anchor="ctr">
            <a:spAutoFit/>
          </a:bodyPr>
          <a:p>
            <a:pPr defTabSz="457200">
              <a:lnSpc>
                <a:spcPts val="1559"/>
              </a:lnSpc>
              <a:spcBef>
                <a:spcPts val="519"/>
              </a:spcBef>
            </a:pP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</a:t>
            </a:r>
            <a:r>
              <a:rPr b="0" lang="en-US" sz="960" strike="noStrike" u="none">
                <a:solidFill>
                  <a:srgbClr val="1976d2"/>
                </a:solidFill>
                <a:effectLst/>
                <a:uFillTx/>
                <a:latin typeface="Roboto"/>
              </a:rPr>
              <a:t>•</a:t>
            </a: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Dose collection tracking 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ounded Rectangle 26"/>
          <p:cNvSpPr/>
          <p:nvPr/>
        </p:nvSpPr>
        <p:spPr>
          <a:xfrm>
            <a:off x="666720" y="4362480"/>
            <a:ext cx="3465720" cy="2036880"/>
          </a:xfrm>
          <a:prstGeom prst="roundRect">
            <a:avLst>
              <a:gd name="adj" fmla="val 11214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Round Same Side Corner Rectangle 27"/>
          <p:cNvSpPr/>
          <p:nvPr/>
        </p:nvSpPr>
        <p:spPr>
          <a:xfrm rot="16200000">
            <a:off x="-285120" y="5316840"/>
            <a:ext cx="2036880" cy="1306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196f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92" name="Picture 28" descr="image.png"/>
          <p:cNvPicPr/>
          <p:nvPr/>
        </p:nvPicPr>
        <p:blipFill>
          <a:blip r:embed="rId4"/>
          <a:stretch/>
        </p:blipFill>
        <p:spPr>
          <a:xfrm>
            <a:off x="933480" y="4660200"/>
            <a:ext cx="341280" cy="24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TextBox 29"/>
          <p:cNvSpPr/>
          <p:nvPr/>
        </p:nvSpPr>
        <p:spPr>
          <a:xfrm>
            <a:off x="1390680" y="4648320"/>
            <a:ext cx="188460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20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System Requirements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30"/>
          <p:cNvSpPr/>
          <p:nvPr/>
        </p:nvSpPr>
        <p:spPr>
          <a:xfrm>
            <a:off x="933480" y="5124600"/>
            <a:ext cx="2970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28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</a:t>
            </a:r>
            <a:r>
              <a:rPr b="0" lang="en-US" sz="960" strike="noStrike" u="none">
                <a:solidFill>
                  <a:srgbClr val="2196f3"/>
                </a:solidFill>
                <a:effectLst/>
                <a:uFillTx/>
                <a:latin typeface="Roboto"/>
              </a:rPr>
              <a:t>•</a:t>
            </a: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Time-based automation 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31"/>
          <p:cNvSpPr/>
          <p:nvPr/>
        </p:nvSpPr>
        <p:spPr>
          <a:xfrm>
            <a:off x="933480" y="5429160"/>
            <a:ext cx="2970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2880" rIns="73080" tIns="54720" bIns="54720" anchor="ctr">
            <a:spAutoFit/>
          </a:bodyPr>
          <a:p>
            <a:pPr defTabSz="457200">
              <a:lnSpc>
                <a:spcPts val="1559"/>
              </a:lnSpc>
              <a:spcBef>
                <a:spcPts val="519"/>
              </a:spcBef>
            </a:pP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</a:t>
            </a:r>
            <a:r>
              <a:rPr b="0" lang="en-US" sz="960" strike="noStrike" u="none">
                <a:solidFill>
                  <a:srgbClr val="2196f3"/>
                </a:solidFill>
                <a:effectLst/>
                <a:uFillTx/>
                <a:latin typeface="Roboto"/>
              </a:rPr>
              <a:t>•</a:t>
            </a: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Sensor detection 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32"/>
          <p:cNvSpPr/>
          <p:nvPr/>
        </p:nvSpPr>
        <p:spPr>
          <a:xfrm>
            <a:off x="933480" y="5734080"/>
            <a:ext cx="2970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2880" rIns="73080" tIns="54720" bIns="54720" anchor="ctr">
            <a:spAutoFit/>
          </a:bodyPr>
          <a:p>
            <a:pPr defTabSz="457200">
              <a:lnSpc>
                <a:spcPts val="1559"/>
              </a:lnSpc>
              <a:spcBef>
                <a:spcPts val="519"/>
              </a:spcBef>
            </a:pP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</a:t>
            </a:r>
            <a:r>
              <a:rPr b="0" lang="en-US" sz="960" strike="noStrike" u="none">
                <a:solidFill>
                  <a:srgbClr val="2196f3"/>
                </a:solidFill>
                <a:effectLst/>
                <a:uFillTx/>
                <a:latin typeface="Roboto"/>
              </a:rPr>
              <a:t>•</a:t>
            </a: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User interface 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Rounded Rectangle 33"/>
          <p:cNvSpPr/>
          <p:nvPr/>
        </p:nvSpPr>
        <p:spPr>
          <a:xfrm>
            <a:off x="4362480" y="4362480"/>
            <a:ext cx="3465720" cy="2036880"/>
          </a:xfrm>
          <a:prstGeom prst="roundRect">
            <a:avLst>
              <a:gd name="adj" fmla="val 11214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Round Same Side Corner Rectangle 34"/>
          <p:cNvSpPr/>
          <p:nvPr/>
        </p:nvSpPr>
        <p:spPr>
          <a:xfrm rot="16200000">
            <a:off x="3409200" y="5316840"/>
            <a:ext cx="2036880" cy="1306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196f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99" name="Picture 35" descr="image.png"/>
          <p:cNvPicPr/>
          <p:nvPr/>
        </p:nvPicPr>
        <p:blipFill>
          <a:blip r:embed="rId5"/>
          <a:stretch/>
        </p:blipFill>
        <p:spPr>
          <a:xfrm>
            <a:off x="4628880" y="4639680"/>
            <a:ext cx="341280" cy="28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0" name="TextBox 36"/>
          <p:cNvSpPr/>
          <p:nvPr/>
        </p:nvSpPr>
        <p:spPr>
          <a:xfrm>
            <a:off x="5086080" y="4648320"/>
            <a:ext cx="11131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20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Alert System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37"/>
          <p:cNvSpPr/>
          <p:nvPr/>
        </p:nvSpPr>
        <p:spPr>
          <a:xfrm>
            <a:off x="4628880" y="5124600"/>
            <a:ext cx="2970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28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</a:t>
            </a:r>
            <a:r>
              <a:rPr b="0" lang="en-US" sz="960" strike="noStrike" u="none">
                <a:solidFill>
                  <a:srgbClr val="2196f3"/>
                </a:solidFill>
                <a:effectLst/>
                <a:uFillTx/>
                <a:latin typeface="Roboto"/>
              </a:rPr>
              <a:t>•</a:t>
            </a: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Visual/audio alerts 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38"/>
          <p:cNvSpPr/>
          <p:nvPr/>
        </p:nvSpPr>
        <p:spPr>
          <a:xfrm>
            <a:off x="4628880" y="5429160"/>
            <a:ext cx="2970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2880" rIns="73080" tIns="54720" bIns="54720" anchor="ctr">
            <a:spAutoFit/>
          </a:bodyPr>
          <a:p>
            <a:pPr defTabSz="457200">
              <a:lnSpc>
                <a:spcPts val="1559"/>
              </a:lnSpc>
              <a:spcBef>
                <a:spcPts val="519"/>
              </a:spcBef>
            </a:pP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</a:t>
            </a:r>
            <a:r>
              <a:rPr b="0" lang="en-US" sz="960" strike="noStrike" u="none">
                <a:solidFill>
                  <a:srgbClr val="2196f3"/>
                </a:solidFill>
                <a:effectLst/>
                <a:uFillTx/>
                <a:latin typeface="Roboto"/>
              </a:rPr>
              <a:t>•</a:t>
            </a: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Missed dose warnings 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39"/>
          <p:cNvSpPr/>
          <p:nvPr/>
        </p:nvSpPr>
        <p:spPr>
          <a:xfrm>
            <a:off x="4628880" y="5734080"/>
            <a:ext cx="2970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2880" rIns="73080" tIns="54720" bIns="54720" anchor="ctr">
            <a:spAutoFit/>
          </a:bodyPr>
          <a:p>
            <a:pPr defTabSz="457200">
              <a:lnSpc>
                <a:spcPts val="1559"/>
              </a:lnSpc>
              <a:spcBef>
                <a:spcPts val="519"/>
              </a:spcBef>
            </a:pP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</a:t>
            </a:r>
            <a:r>
              <a:rPr b="0" lang="en-US" sz="960" strike="noStrike" u="none">
                <a:solidFill>
                  <a:srgbClr val="2196f3"/>
                </a:solidFill>
                <a:effectLst/>
                <a:uFillTx/>
                <a:latin typeface="Roboto"/>
              </a:rPr>
              <a:t>•</a:t>
            </a: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Real-time monitoring 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Rounded Rectangle 40"/>
          <p:cNvSpPr/>
          <p:nvPr/>
        </p:nvSpPr>
        <p:spPr>
          <a:xfrm>
            <a:off x="8057880" y="4362480"/>
            <a:ext cx="3465720" cy="2036880"/>
          </a:xfrm>
          <a:prstGeom prst="roundRect">
            <a:avLst>
              <a:gd name="adj" fmla="val 11214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Round Same Side Corner Rectangle 41"/>
          <p:cNvSpPr/>
          <p:nvPr/>
        </p:nvSpPr>
        <p:spPr>
          <a:xfrm rot="16200000">
            <a:off x="7104600" y="5316840"/>
            <a:ext cx="2036880" cy="1306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196f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06" name="Picture 42" descr="image.png"/>
          <p:cNvPicPr/>
          <p:nvPr/>
        </p:nvPicPr>
        <p:blipFill>
          <a:blip r:embed="rId6"/>
          <a:stretch/>
        </p:blipFill>
        <p:spPr>
          <a:xfrm>
            <a:off x="8324640" y="4627800"/>
            <a:ext cx="341280" cy="30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7" name="TextBox 43"/>
          <p:cNvSpPr/>
          <p:nvPr/>
        </p:nvSpPr>
        <p:spPr>
          <a:xfrm>
            <a:off x="8781840" y="4648320"/>
            <a:ext cx="13795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20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Reliability Goals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44"/>
          <p:cNvSpPr/>
          <p:nvPr/>
        </p:nvSpPr>
        <p:spPr>
          <a:xfrm>
            <a:off x="8324640" y="5124600"/>
            <a:ext cx="2970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28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</a:t>
            </a:r>
            <a:r>
              <a:rPr b="0" lang="en-US" sz="960" strike="noStrike" u="none">
                <a:solidFill>
                  <a:srgbClr val="2196f3"/>
                </a:solidFill>
                <a:effectLst/>
                <a:uFillTx/>
                <a:latin typeface="Roboto"/>
              </a:rPr>
              <a:t>•</a:t>
            </a: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Accurate timing 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45"/>
          <p:cNvSpPr/>
          <p:nvPr/>
        </p:nvSpPr>
        <p:spPr>
          <a:xfrm>
            <a:off x="8324640" y="5429160"/>
            <a:ext cx="2970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2880" rIns="73080" tIns="54720" bIns="54720" anchor="ctr">
            <a:spAutoFit/>
          </a:bodyPr>
          <a:p>
            <a:pPr defTabSz="457200">
              <a:lnSpc>
                <a:spcPts val="1559"/>
              </a:lnSpc>
              <a:spcBef>
                <a:spcPts val="519"/>
              </a:spcBef>
            </a:pP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</a:t>
            </a:r>
            <a:r>
              <a:rPr b="0" lang="en-US" sz="960" strike="noStrike" u="none">
                <a:solidFill>
                  <a:srgbClr val="2196f3"/>
                </a:solidFill>
                <a:effectLst/>
                <a:uFillTx/>
                <a:latin typeface="Roboto"/>
              </a:rPr>
              <a:t>•</a:t>
            </a: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Consistent operation 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46"/>
          <p:cNvSpPr/>
          <p:nvPr/>
        </p:nvSpPr>
        <p:spPr>
          <a:xfrm>
            <a:off x="8324640" y="5734080"/>
            <a:ext cx="2970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2880" rIns="73080" tIns="54720" bIns="54720" anchor="ctr">
            <a:spAutoFit/>
          </a:bodyPr>
          <a:p>
            <a:pPr defTabSz="457200">
              <a:lnSpc>
                <a:spcPts val="1559"/>
              </a:lnSpc>
              <a:spcBef>
                <a:spcPts val="519"/>
              </a:spcBef>
            </a:pP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</a:t>
            </a:r>
            <a:r>
              <a:rPr b="0" lang="en-US" sz="960" strike="noStrike" u="none">
                <a:solidFill>
                  <a:srgbClr val="2196f3"/>
                </a:solidFill>
                <a:effectLst/>
                <a:uFillTx/>
                <a:latin typeface="Roboto"/>
              </a:rPr>
              <a:t>•</a:t>
            </a: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Error handling 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1"/>
          <p:cNvSpPr>
            <a:spLocks noGrp="1"/>
          </p:cNvSpPr>
          <p:nvPr>
            <p:ph type="sldNum" idx="39"/>
          </p:nvPr>
        </p:nvSpPr>
        <p:spPr>
          <a:xfrm>
            <a:off x="10058040" y="648648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A9324D6-B1B7-4507-BEEA-C97CB0D9B34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9fafb"/>
            </a:gs>
            <a:gs pos="100000">
              <a:srgbClr val="eff6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Rectangle 1"/>
          <p:cNvSpPr/>
          <p:nvPr/>
        </p:nvSpPr>
        <p:spPr>
          <a:xfrm>
            <a:off x="0" y="0"/>
            <a:ext cx="12190320" cy="951120"/>
          </a:xfrm>
          <a:prstGeom prst="rect">
            <a:avLst/>
          </a:prstGeom>
          <a:solidFill>
            <a:srgbClr val="197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Rounded Rectangle 2"/>
          <p:cNvSpPr/>
          <p:nvPr/>
        </p:nvSpPr>
        <p:spPr>
          <a:xfrm>
            <a:off x="666720" y="247680"/>
            <a:ext cx="55800" cy="455760"/>
          </a:xfrm>
          <a:prstGeom prst="roundRect">
            <a:avLst>
              <a:gd name="adj" fmla="val 333300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TextBox 3"/>
          <p:cNvSpPr/>
          <p:nvPr/>
        </p:nvSpPr>
        <p:spPr>
          <a:xfrm>
            <a:off x="876240" y="190440"/>
            <a:ext cx="3656160" cy="57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3900"/>
              </a:lnSpc>
            </a:pPr>
            <a:r>
              <a:rPr b="1" lang="en-US" sz="2390" strike="noStrike" u="none">
                <a:solidFill>
                  <a:srgbClr val="ffffff"/>
                </a:solidFill>
                <a:effectLst/>
                <a:uFillTx/>
                <a:latin typeface="Montserrat"/>
              </a:rPr>
              <a:t>Project Objectives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Rounded Rectangle 4"/>
          <p:cNvSpPr/>
          <p:nvPr/>
        </p:nvSpPr>
        <p:spPr>
          <a:xfrm>
            <a:off x="666720" y="1866960"/>
            <a:ext cx="5199120" cy="836640"/>
          </a:xfrm>
          <a:prstGeom prst="roundRect">
            <a:avLst>
              <a:gd name="adj" fmla="val 27272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Round Same Side Corner Rectangle 5"/>
          <p:cNvSpPr/>
          <p:nvPr/>
        </p:nvSpPr>
        <p:spPr>
          <a:xfrm rot="16200000">
            <a:off x="313560" y="2221200"/>
            <a:ext cx="836640" cy="1306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97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Rounded Rectangle 6"/>
          <p:cNvSpPr/>
          <p:nvPr/>
        </p:nvSpPr>
        <p:spPr>
          <a:xfrm>
            <a:off x="895320" y="2057400"/>
            <a:ext cx="455760" cy="455760"/>
          </a:xfrm>
          <a:prstGeom prst="roundRect">
            <a:avLst>
              <a:gd name="adj" fmla="val 33333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TextBox 7"/>
          <p:cNvSpPr/>
          <p:nvPr/>
        </p:nvSpPr>
        <p:spPr>
          <a:xfrm>
            <a:off x="895320" y="2057400"/>
            <a:ext cx="4557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081"/>
              </a:lnSpc>
            </a:pPr>
            <a:r>
              <a:rPr b="1" lang="en-US" sz="1430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01</a:t>
            </a:r>
            <a:endParaRPr b="0" lang="en-US" sz="14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9" name="Picture 8" descr="image.png"/>
          <p:cNvPicPr/>
          <p:nvPr/>
        </p:nvPicPr>
        <p:blipFill>
          <a:blip r:embed="rId1"/>
          <a:stretch/>
        </p:blipFill>
        <p:spPr>
          <a:xfrm>
            <a:off x="1542960" y="2169360"/>
            <a:ext cx="284400" cy="23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TextBox 9"/>
          <p:cNvSpPr/>
          <p:nvPr/>
        </p:nvSpPr>
        <p:spPr>
          <a:xfrm>
            <a:off x="1942920" y="2152800"/>
            <a:ext cx="324648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0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Design smart medicine dispensing system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Rounded Rectangle 10"/>
          <p:cNvSpPr/>
          <p:nvPr/>
        </p:nvSpPr>
        <p:spPr>
          <a:xfrm>
            <a:off x="666720" y="2895480"/>
            <a:ext cx="5199120" cy="9129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Round Same Side Corner Rectangle 11"/>
          <p:cNvSpPr/>
          <p:nvPr/>
        </p:nvSpPr>
        <p:spPr>
          <a:xfrm rot="16200000">
            <a:off x="275400" y="3287880"/>
            <a:ext cx="912960" cy="1306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97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Rounded Rectangle 12"/>
          <p:cNvSpPr/>
          <p:nvPr/>
        </p:nvSpPr>
        <p:spPr>
          <a:xfrm>
            <a:off x="895320" y="3124080"/>
            <a:ext cx="455760" cy="455760"/>
          </a:xfrm>
          <a:prstGeom prst="roundRect">
            <a:avLst>
              <a:gd name="adj" fmla="val 33333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Box 13"/>
          <p:cNvSpPr/>
          <p:nvPr/>
        </p:nvSpPr>
        <p:spPr>
          <a:xfrm>
            <a:off x="895320" y="3124080"/>
            <a:ext cx="4557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081"/>
              </a:lnSpc>
            </a:pPr>
            <a:r>
              <a:rPr b="1" lang="en-US" sz="1430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02</a:t>
            </a:r>
            <a:endParaRPr b="0" lang="en-US" sz="14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5" name="Picture 14" descr="image.png"/>
          <p:cNvPicPr/>
          <p:nvPr/>
        </p:nvPicPr>
        <p:blipFill>
          <a:blip r:embed="rId2"/>
          <a:stretch/>
        </p:blipFill>
        <p:spPr>
          <a:xfrm>
            <a:off x="1542960" y="3230280"/>
            <a:ext cx="284400" cy="24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" name="TextBox 15"/>
          <p:cNvSpPr/>
          <p:nvPr/>
        </p:nvSpPr>
        <p:spPr>
          <a:xfrm>
            <a:off x="1942920" y="3086280"/>
            <a:ext cx="3732120" cy="53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0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Automate medication delivery at predefined times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Rounded Rectangle 16"/>
          <p:cNvSpPr/>
          <p:nvPr/>
        </p:nvSpPr>
        <p:spPr>
          <a:xfrm>
            <a:off x="666720" y="4000680"/>
            <a:ext cx="5199120" cy="9129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Round Same Side Corner Rectangle 17"/>
          <p:cNvSpPr/>
          <p:nvPr/>
        </p:nvSpPr>
        <p:spPr>
          <a:xfrm rot="16200000">
            <a:off x="275400" y="4393080"/>
            <a:ext cx="912960" cy="1306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97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Rounded Rectangle 18"/>
          <p:cNvSpPr/>
          <p:nvPr/>
        </p:nvSpPr>
        <p:spPr>
          <a:xfrm>
            <a:off x="895320" y="4229280"/>
            <a:ext cx="455760" cy="455760"/>
          </a:xfrm>
          <a:prstGeom prst="roundRect">
            <a:avLst>
              <a:gd name="adj" fmla="val 33333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TextBox 19"/>
          <p:cNvSpPr/>
          <p:nvPr/>
        </p:nvSpPr>
        <p:spPr>
          <a:xfrm>
            <a:off x="895320" y="4229280"/>
            <a:ext cx="4557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081"/>
              </a:lnSpc>
            </a:pPr>
            <a:r>
              <a:rPr b="1" lang="en-US" sz="1430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03</a:t>
            </a:r>
            <a:endParaRPr b="0" lang="en-US" sz="14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1" name="Picture 20" descr="image.png"/>
          <p:cNvPicPr/>
          <p:nvPr/>
        </p:nvPicPr>
        <p:blipFill>
          <a:blip r:embed="rId3"/>
          <a:stretch/>
        </p:blipFill>
        <p:spPr>
          <a:xfrm>
            <a:off x="1542960" y="4347000"/>
            <a:ext cx="284400" cy="22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TextBox 21"/>
          <p:cNvSpPr/>
          <p:nvPr/>
        </p:nvSpPr>
        <p:spPr>
          <a:xfrm>
            <a:off x="1942920" y="4191120"/>
            <a:ext cx="3732120" cy="53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0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Implement user input for scheduling medications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Rounded Rectangle 22"/>
          <p:cNvSpPr/>
          <p:nvPr/>
        </p:nvSpPr>
        <p:spPr>
          <a:xfrm>
            <a:off x="666720" y="5105520"/>
            <a:ext cx="5199120" cy="836640"/>
          </a:xfrm>
          <a:prstGeom prst="roundRect">
            <a:avLst>
              <a:gd name="adj" fmla="val 27272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4" name="Round Same Side Corner Rectangle 23"/>
          <p:cNvSpPr/>
          <p:nvPr/>
        </p:nvSpPr>
        <p:spPr>
          <a:xfrm rot="16200000">
            <a:off x="313560" y="5459760"/>
            <a:ext cx="836640" cy="1306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97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Rounded Rectangle 24"/>
          <p:cNvSpPr/>
          <p:nvPr/>
        </p:nvSpPr>
        <p:spPr>
          <a:xfrm>
            <a:off x="895320" y="5295960"/>
            <a:ext cx="455760" cy="455760"/>
          </a:xfrm>
          <a:prstGeom prst="roundRect">
            <a:avLst>
              <a:gd name="adj" fmla="val 33333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6" name="TextBox 25"/>
          <p:cNvSpPr/>
          <p:nvPr/>
        </p:nvSpPr>
        <p:spPr>
          <a:xfrm>
            <a:off x="895320" y="5295960"/>
            <a:ext cx="4557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081"/>
              </a:lnSpc>
            </a:pPr>
            <a:r>
              <a:rPr b="1" lang="en-US" sz="1430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04</a:t>
            </a:r>
            <a:endParaRPr b="0" lang="en-US" sz="14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7" name="Picture 26" descr="image.png"/>
          <p:cNvPicPr/>
          <p:nvPr/>
        </p:nvPicPr>
        <p:blipFill>
          <a:blip r:embed="rId4"/>
          <a:stretch/>
        </p:blipFill>
        <p:spPr>
          <a:xfrm>
            <a:off x="1542960" y="5434200"/>
            <a:ext cx="284400" cy="17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" name="TextBox 27"/>
          <p:cNvSpPr/>
          <p:nvPr/>
        </p:nvSpPr>
        <p:spPr>
          <a:xfrm>
            <a:off x="1942920" y="5391000"/>
            <a:ext cx="30560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0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Detect medicine collection with sensors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Rounded Rectangle 28"/>
          <p:cNvSpPr/>
          <p:nvPr/>
        </p:nvSpPr>
        <p:spPr>
          <a:xfrm>
            <a:off x="6324480" y="1943280"/>
            <a:ext cx="5199120" cy="836640"/>
          </a:xfrm>
          <a:prstGeom prst="roundRect">
            <a:avLst>
              <a:gd name="adj" fmla="val 27272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0" name="Round Same Side Corner Rectangle 29"/>
          <p:cNvSpPr/>
          <p:nvPr/>
        </p:nvSpPr>
        <p:spPr>
          <a:xfrm rot="16200000">
            <a:off x="5971320" y="2297520"/>
            <a:ext cx="836640" cy="1306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196f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Rounded Rectangle 30"/>
          <p:cNvSpPr/>
          <p:nvPr/>
        </p:nvSpPr>
        <p:spPr>
          <a:xfrm>
            <a:off x="6553080" y="2133720"/>
            <a:ext cx="455760" cy="455760"/>
          </a:xfrm>
          <a:prstGeom prst="roundRect">
            <a:avLst>
              <a:gd name="adj" fmla="val 33333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Box 31"/>
          <p:cNvSpPr/>
          <p:nvPr/>
        </p:nvSpPr>
        <p:spPr>
          <a:xfrm>
            <a:off x="6553080" y="2133720"/>
            <a:ext cx="4557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081"/>
              </a:lnSpc>
            </a:pPr>
            <a:r>
              <a:rPr b="1" lang="en-US" sz="1430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05</a:t>
            </a:r>
            <a:endParaRPr b="0" lang="en-US" sz="14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3" name="Picture 32" descr="image.png"/>
          <p:cNvPicPr/>
          <p:nvPr/>
        </p:nvPicPr>
        <p:blipFill>
          <a:blip r:embed="rId5"/>
          <a:stretch/>
        </p:blipFill>
        <p:spPr>
          <a:xfrm>
            <a:off x="7200720" y="2242800"/>
            <a:ext cx="284400" cy="23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4" name="TextBox 33"/>
          <p:cNvSpPr/>
          <p:nvPr/>
        </p:nvSpPr>
        <p:spPr>
          <a:xfrm>
            <a:off x="7600680" y="2228760"/>
            <a:ext cx="325620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0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Provide alerts for doses and missed doses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Rounded Rectangle 34"/>
          <p:cNvSpPr/>
          <p:nvPr/>
        </p:nvSpPr>
        <p:spPr>
          <a:xfrm>
            <a:off x="6324480" y="2971800"/>
            <a:ext cx="5199120" cy="836640"/>
          </a:xfrm>
          <a:prstGeom prst="roundRect">
            <a:avLst>
              <a:gd name="adj" fmla="val 27272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6" name="Round Same Side Corner Rectangle 35"/>
          <p:cNvSpPr/>
          <p:nvPr/>
        </p:nvSpPr>
        <p:spPr>
          <a:xfrm rot="16200000">
            <a:off x="5971320" y="3326040"/>
            <a:ext cx="836640" cy="1306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196f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7" name="Rounded Rectangle 36"/>
          <p:cNvSpPr/>
          <p:nvPr/>
        </p:nvSpPr>
        <p:spPr>
          <a:xfrm>
            <a:off x="6553080" y="3162240"/>
            <a:ext cx="455760" cy="455760"/>
          </a:xfrm>
          <a:prstGeom prst="roundRect">
            <a:avLst>
              <a:gd name="adj" fmla="val 33333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8" name="TextBox 37"/>
          <p:cNvSpPr/>
          <p:nvPr/>
        </p:nvSpPr>
        <p:spPr>
          <a:xfrm>
            <a:off x="6553080" y="3162240"/>
            <a:ext cx="4557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081"/>
              </a:lnSpc>
            </a:pPr>
            <a:r>
              <a:rPr b="1" lang="en-US" sz="1430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06</a:t>
            </a:r>
            <a:endParaRPr b="0" lang="en-US" sz="14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9" name="Picture 38" descr="image.png"/>
          <p:cNvPicPr/>
          <p:nvPr/>
        </p:nvPicPr>
        <p:blipFill>
          <a:blip r:embed="rId6"/>
          <a:stretch/>
        </p:blipFill>
        <p:spPr>
          <a:xfrm>
            <a:off x="7200720" y="3262680"/>
            <a:ext cx="28440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0" name="TextBox 39"/>
          <p:cNvSpPr/>
          <p:nvPr/>
        </p:nvSpPr>
        <p:spPr>
          <a:xfrm>
            <a:off x="7600680" y="3257640"/>
            <a:ext cx="293220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0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Ensure system reliability and accuracy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Rounded Rectangle 40"/>
          <p:cNvSpPr/>
          <p:nvPr/>
        </p:nvSpPr>
        <p:spPr>
          <a:xfrm>
            <a:off x="6324480" y="4000680"/>
            <a:ext cx="5199120" cy="836640"/>
          </a:xfrm>
          <a:prstGeom prst="roundRect">
            <a:avLst>
              <a:gd name="adj" fmla="val 27272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Round Same Side Corner Rectangle 41"/>
          <p:cNvSpPr/>
          <p:nvPr/>
        </p:nvSpPr>
        <p:spPr>
          <a:xfrm rot="16200000">
            <a:off x="5971320" y="4354920"/>
            <a:ext cx="836640" cy="1306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196f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Rounded Rectangle 42"/>
          <p:cNvSpPr/>
          <p:nvPr/>
        </p:nvSpPr>
        <p:spPr>
          <a:xfrm>
            <a:off x="6553080" y="4191120"/>
            <a:ext cx="455760" cy="455760"/>
          </a:xfrm>
          <a:prstGeom prst="roundRect">
            <a:avLst>
              <a:gd name="adj" fmla="val 33333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TextBox 43"/>
          <p:cNvSpPr/>
          <p:nvPr/>
        </p:nvSpPr>
        <p:spPr>
          <a:xfrm>
            <a:off x="6553080" y="4191120"/>
            <a:ext cx="4557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081"/>
              </a:lnSpc>
            </a:pPr>
            <a:r>
              <a:rPr b="1" lang="en-US" sz="1430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07</a:t>
            </a:r>
            <a:endParaRPr b="0" lang="en-US" sz="14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5" name="Picture 44" descr="image.png"/>
          <p:cNvPicPr/>
          <p:nvPr/>
        </p:nvPicPr>
        <p:blipFill>
          <a:blip r:embed="rId7"/>
          <a:stretch/>
        </p:blipFill>
        <p:spPr>
          <a:xfrm>
            <a:off x="7200720" y="4329360"/>
            <a:ext cx="284400" cy="17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6" name="TextBox 45"/>
          <p:cNvSpPr/>
          <p:nvPr/>
        </p:nvSpPr>
        <p:spPr>
          <a:xfrm>
            <a:off x="7600680" y="4286160"/>
            <a:ext cx="29228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0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Handle multiple medication schedules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Rounded Rectangle 46"/>
          <p:cNvSpPr/>
          <p:nvPr/>
        </p:nvSpPr>
        <p:spPr>
          <a:xfrm>
            <a:off x="6324480" y="5029200"/>
            <a:ext cx="5199120" cy="836640"/>
          </a:xfrm>
          <a:prstGeom prst="roundRect">
            <a:avLst>
              <a:gd name="adj" fmla="val 27272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8" name="Round Same Side Corner Rectangle 47"/>
          <p:cNvSpPr/>
          <p:nvPr/>
        </p:nvSpPr>
        <p:spPr>
          <a:xfrm rot="16200000">
            <a:off x="5971320" y="5383440"/>
            <a:ext cx="836640" cy="1306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196f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9" name="Rounded Rectangle 48"/>
          <p:cNvSpPr/>
          <p:nvPr/>
        </p:nvSpPr>
        <p:spPr>
          <a:xfrm>
            <a:off x="6553080" y="5219640"/>
            <a:ext cx="455760" cy="455760"/>
          </a:xfrm>
          <a:prstGeom prst="roundRect">
            <a:avLst>
              <a:gd name="adj" fmla="val 33333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TextBox 49"/>
          <p:cNvSpPr/>
          <p:nvPr/>
        </p:nvSpPr>
        <p:spPr>
          <a:xfrm>
            <a:off x="6553080" y="5219640"/>
            <a:ext cx="4557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081"/>
              </a:lnSpc>
            </a:pPr>
            <a:r>
              <a:rPr b="1" lang="en-US" sz="1430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08</a:t>
            </a:r>
            <a:endParaRPr b="0" lang="en-US" sz="14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1" name="Picture 50" descr="image.png"/>
          <p:cNvPicPr/>
          <p:nvPr/>
        </p:nvPicPr>
        <p:blipFill>
          <a:blip r:embed="rId8"/>
          <a:stretch/>
        </p:blipFill>
        <p:spPr>
          <a:xfrm>
            <a:off x="7200720" y="5333040"/>
            <a:ext cx="284400" cy="22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2" name="TextBox 51"/>
          <p:cNvSpPr/>
          <p:nvPr/>
        </p:nvSpPr>
        <p:spPr>
          <a:xfrm>
            <a:off x="7600680" y="5315040"/>
            <a:ext cx="315108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0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Achieve cost-effective and simple design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1"/>
          <p:cNvSpPr>
            <a:spLocks noGrp="1"/>
          </p:cNvSpPr>
          <p:nvPr>
            <p:ph type="sldNum" idx="40"/>
          </p:nvPr>
        </p:nvSpPr>
        <p:spPr>
          <a:xfrm>
            <a:off x="10058040" y="649404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22969E1-557C-4580-9970-97AF0AAB2DE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9fafb"/>
            </a:gs>
            <a:gs pos="100000">
              <a:srgbClr val="eff6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>
          <a:xfrm>
            <a:off x="0" y="0"/>
            <a:ext cx="12190320" cy="951120"/>
          </a:xfrm>
          <a:prstGeom prst="rect">
            <a:avLst/>
          </a:prstGeom>
          <a:solidFill>
            <a:srgbClr val="197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5" name="Rounded Rectangle 2"/>
          <p:cNvSpPr/>
          <p:nvPr/>
        </p:nvSpPr>
        <p:spPr>
          <a:xfrm>
            <a:off x="666720" y="247680"/>
            <a:ext cx="55800" cy="455760"/>
          </a:xfrm>
          <a:prstGeom prst="roundRect">
            <a:avLst>
              <a:gd name="adj" fmla="val 333300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6" name="TextBox 3"/>
          <p:cNvSpPr/>
          <p:nvPr/>
        </p:nvSpPr>
        <p:spPr>
          <a:xfrm>
            <a:off x="876240" y="190440"/>
            <a:ext cx="3465720" cy="57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3900"/>
              </a:lnSpc>
            </a:pPr>
            <a:r>
              <a:rPr b="1" lang="en-US" sz="2390" strike="noStrike" u="none">
                <a:solidFill>
                  <a:srgbClr val="ffffff"/>
                </a:solidFill>
                <a:effectLst/>
                <a:uFillTx/>
                <a:latin typeface="Montserrat"/>
              </a:rPr>
              <a:t>System Overview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4"/>
          <p:cNvSpPr/>
          <p:nvPr/>
        </p:nvSpPr>
        <p:spPr>
          <a:xfrm>
            <a:off x="666720" y="1905120"/>
            <a:ext cx="4037040" cy="7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730"/>
              </a:lnSpc>
              <a:spcAft>
                <a:spcPts val="780"/>
              </a:spcAft>
            </a:pPr>
            <a:r>
              <a:rPr b="1" lang="en-US" sz="1679" strike="noStrike" u="none">
                <a:solidFill>
                  <a:srgbClr val="1976d2"/>
                </a:solidFill>
                <a:effectLst/>
                <a:uFillTx/>
                <a:latin typeface="Montserrat"/>
              </a:rPr>
              <a:t>Automated Medicine Dispensing System</a:t>
            </a:r>
            <a:endParaRPr b="0" lang="en-US" sz="16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Rounded Rectangle 5"/>
          <p:cNvSpPr/>
          <p:nvPr/>
        </p:nvSpPr>
        <p:spPr>
          <a:xfrm>
            <a:off x="666720" y="2819520"/>
            <a:ext cx="608040" cy="36720"/>
          </a:xfrm>
          <a:prstGeom prst="roundRect">
            <a:avLst>
              <a:gd name="adj" fmla="val 499950000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108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8000" bIns="-18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9" name="TextBox 6"/>
          <p:cNvSpPr/>
          <p:nvPr/>
        </p:nvSpPr>
        <p:spPr>
          <a:xfrm>
            <a:off x="666720" y="3276720"/>
            <a:ext cx="4037040" cy="11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1950"/>
              </a:lnSpc>
              <a:spcAft>
                <a:spcPts val="1559"/>
              </a:spcAft>
            </a:pPr>
            <a:r>
              <a:rPr b="0" lang="en-US" sz="113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A smart healthcare IoT solution that ensures timely medication delivery through automated scheduling, real-time monitoring, and intelligent alert mechanisms.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0" name="Picture 7" descr="image.png"/>
          <p:cNvPicPr/>
          <p:nvPr/>
        </p:nvPicPr>
        <p:blipFill>
          <a:blip r:embed="rId1"/>
          <a:stretch/>
        </p:blipFill>
        <p:spPr>
          <a:xfrm>
            <a:off x="666720" y="4741560"/>
            <a:ext cx="22716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1" name="TextBox 8"/>
          <p:cNvSpPr/>
          <p:nvPr/>
        </p:nvSpPr>
        <p:spPr>
          <a:xfrm>
            <a:off x="1009800" y="4724280"/>
            <a:ext cx="22464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374151"/>
                </a:solidFill>
                <a:effectLst/>
                <a:uFillTx/>
                <a:latin typeface="Roboto"/>
              </a:rPr>
              <a:t>Dual microcontroller architecture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2" name="Picture 9" descr="image.png"/>
          <p:cNvPicPr/>
          <p:nvPr/>
        </p:nvPicPr>
        <p:blipFill>
          <a:blip r:embed="rId2"/>
          <a:stretch/>
        </p:blipFill>
        <p:spPr>
          <a:xfrm>
            <a:off x="666720" y="5198760"/>
            <a:ext cx="22716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3" name="TextBox 10"/>
          <p:cNvSpPr/>
          <p:nvPr/>
        </p:nvSpPr>
        <p:spPr>
          <a:xfrm>
            <a:off x="1009800" y="5181480"/>
            <a:ext cx="1989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374151"/>
                </a:solidFill>
                <a:effectLst/>
                <a:uFillTx/>
                <a:latin typeface="Roboto"/>
              </a:rPr>
              <a:t>Sensor-based dose detection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4" name="Picture 11" descr="image.png"/>
          <p:cNvPicPr/>
          <p:nvPr/>
        </p:nvPicPr>
        <p:blipFill>
          <a:blip r:embed="rId3"/>
          <a:stretch/>
        </p:blipFill>
        <p:spPr>
          <a:xfrm>
            <a:off x="666720" y="5655960"/>
            <a:ext cx="22716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5" name="TextBox 12"/>
          <p:cNvSpPr/>
          <p:nvPr/>
        </p:nvSpPr>
        <p:spPr>
          <a:xfrm>
            <a:off x="1009800" y="5638680"/>
            <a:ext cx="22748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374151"/>
                </a:solidFill>
                <a:effectLst/>
                <a:uFillTx/>
                <a:latin typeface="Roboto"/>
              </a:rPr>
              <a:t>User-friendly interactive interface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Rounded Rectangle 13"/>
          <p:cNvSpPr/>
          <p:nvPr/>
        </p:nvSpPr>
        <p:spPr>
          <a:xfrm>
            <a:off x="5314680" y="1828800"/>
            <a:ext cx="3008520" cy="133200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77" name="Picture 14" descr="image.png"/>
          <p:cNvPicPr/>
          <p:nvPr/>
        </p:nvPicPr>
        <p:blipFill>
          <a:blip r:embed="rId4"/>
          <a:stretch/>
        </p:blipFill>
        <p:spPr>
          <a:xfrm>
            <a:off x="5505480" y="2076840"/>
            <a:ext cx="341280" cy="26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8" name="TextBox 15"/>
          <p:cNvSpPr/>
          <p:nvPr/>
        </p:nvSpPr>
        <p:spPr>
          <a:xfrm>
            <a:off x="5962680" y="2076480"/>
            <a:ext cx="135108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20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Arduino Control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16"/>
          <p:cNvSpPr/>
          <p:nvPr/>
        </p:nvSpPr>
        <p:spPr>
          <a:xfrm>
            <a:off x="5505480" y="2514600"/>
            <a:ext cx="26272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Central processing unit for system operations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Rounded Rectangle 17"/>
          <p:cNvSpPr/>
          <p:nvPr/>
        </p:nvSpPr>
        <p:spPr>
          <a:xfrm>
            <a:off x="8515080" y="1828800"/>
            <a:ext cx="3008520" cy="133200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81" name="Picture 18" descr="image.png"/>
          <p:cNvPicPr/>
          <p:nvPr/>
        </p:nvPicPr>
        <p:blipFill>
          <a:blip r:embed="rId5"/>
          <a:stretch/>
        </p:blipFill>
        <p:spPr>
          <a:xfrm>
            <a:off x="8705520" y="2063520"/>
            <a:ext cx="341280" cy="29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2" name="TextBox 19"/>
          <p:cNvSpPr/>
          <p:nvPr/>
        </p:nvSpPr>
        <p:spPr>
          <a:xfrm>
            <a:off x="9162720" y="2076480"/>
            <a:ext cx="139860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20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Auto Dispensing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20"/>
          <p:cNvSpPr/>
          <p:nvPr/>
        </p:nvSpPr>
        <p:spPr>
          <a:xfrm>
            <a:off x="8705520" y="2514600"/>
            <a:ext cx="26272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Time-based medication release mechanism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Rounded Rectangle 21"/>
          <p:cNvSpPr/>
          <p:nvPr/>
        </p:nvSpPr>
        <p:spPr>
          <a:xfrm>
            <a:off x="5314680" y="3352680"/>
            <a:ext cx="3008520" cy="1103400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85" name="Picture 22" descr="image.png"/>
          <p:cNvPicPr/>
          <p:nvPr/>
        </p:nvPicPr>
        <p:blipFill>
          <a:blip r:embed="rId6"/>
          <a:stretch/>
        </p:blipFill>
        <p:spPr>
          <a:xfrm>
            <a:off x="5519880" y="3543480"/>
            <a:ext cx="312120" cy="37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6" name="TextBox 23"/>
          <p:cNvSpPr/>
          <p:nvPr/>
        </p:nvSpPr>
        <p:spPr>
          <a:xfrm>
            <a:off x="5962680" y="3600360"/>
            <a:ext cx="121788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20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User Interface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24"/>
          <p:cNvSpPr/>
          <p:nvPr/>
        </p:nvSpPr>
        <p:spPr>
          <a:xfrm>
            <a:off x="5505480" y="4038480"/>
            <a:ext cx="26272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LCD display with 4x4 keypad input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Rounded Rectangle 25"/>
          <p:cNvSpPr/>
          <p:nvPr/>
        </p:nvSpPr>
        <p:spPr>
          <a:xfrm>
            <a:off x="8515080" y="3352680"/>
            <a:ext cx="3008520" cy="1103400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89" name="Picture 26" descr="image.png"/>
          <p:cNvPicPr/>
          <p:nvPr/>
        </p:nvPicPr>
        <p:blipFill>
          <a:blip r:embed="rId7"/>
          <a:stretch/>
        </p:blipFill>
        <p:spPr>
          <a:xfrm>
            <a:off x="8705520" y="3588840"/>
            <a:ext cx="341280" cy="288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0" name="TextBox 27"/>
          <p:cNvSpPr/>
          <p:nvPr/>
        </p:nvSpPr>
        <p:spPr>
          <a:xfrm>
            <a:off x="9162720" y="3600360"/>
            <a:ext cx="18176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20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Real-time Monitoring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28"/>
          <p:cNvSpPr/>
          <p:nvPr/>
        </p:nvSpPr>
        <p:spPr>
          <a:xfrm>
            <a:off x="8705520" y="4038480"/>
            <a:ext cx="26272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IR sensor for dose collection detection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Rounded Rectangle 29"/>
          <p:cNvSpPr/>
          <p:nvPr/>
        </p:nvSpPr>
        <p:spPr>
          <a:xfrm>
            <a:off x="5314680" y="4648320"/>
            <a:ext cx="3008520" cy="133200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93" name="Picture 30" descr="image.png"/>
          <p:cNvPicPr/>
          <p:nvPr/>
        </p:nvPicPr>
        <p:blipFill>
          <a:blip r:embed="rId8"/>
          <a:stretch/>
        </p:blipFill>
        <p:spPr>
          <a:xfrm>
            <a:off x="5505480" y="4887360"/>
            <a:ext cx="341280" cy="28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4" name="TextBox 31"/>
          <p:cNvSpPr/>
          <p:nvPr/>
        </p:nvSpPr>
        <p:spPr>
          <a:xfrm>
            <a:off x="5962680" y="4896000"/>
            <a:ext cx="10843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20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Smart Alerts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32"/>
          <p:cNvSpPr/>
          <p:nvPr/>
        </p:nvSpPr>
        <p:spPr>
          <a:xfrm>
            <a:off x="5505480" y="5334120"/>
            <a:ext cx="26272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Visual and audio notifications for doses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Rounded Rectangle 33"/>
          <p:cNvSpPr/>
          <p:nvPr/>
        </p:nvSpPr>
        <p:spPr>
          <a:xfrm>
            <a:off x="8515080" y="4648320"/>
            <a:ext cx="3008520" cy="133200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97" name="Picture 34" descr="image.png"/>
          <p:cNvPicPr/>
          <p:nvPr/>
        </p:nvPicPr>
        <p:blipFill>
          <a:blip r:embed="rId9"/>
          <a:stretch/>
        </p:blipFill>
        <p:spPr>
          <a:xfrm>
            <a:off x="8705520" y="4896000"/>
            <a:ext cx="341280" cy="26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8" name="TextBox 35"/>
          <p:cNvSpPr/>
          <p:nvPr/>
        </p:nvSpPr>
        <p:spPr>
          <a:xfrm>
            <a:off x="9162720" y="4896000"/>
            <a:ext cx="176076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20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ESP-32 Connectivity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36"/>
          <p:cNvSpPr/>
          <p:nvPr/>
        </p:nvSpPr>
        <p:spPr>
          <a:xfrm>
            <a:off x="8705520" y="5334120"/>
            <a:ext cx="26272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WiFi/Bluetooth for remote monitoring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1"/>
          <p:cNvSpPr>
            <a:spLocks noGrp="1"/>
          </p:cNvSpPr>
          <p:nvPr>
            <p:ph type="sldNum" idx="41"/>
          </p:nvPr>
        </p:nvSpPr>
        <p:spPr>
          <a:xfrm>
            <a:off x="10043280" y="649440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E03E8BB-2297-4B32-AF5F-08AD2D32BAA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9fafb"/>
            </a:gs>
            <a:gs pos="100000">
              <a:srgbClr val="eff6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Rectangle 1"/>
          <p:cNvSpPr/>
          <p:nvPr/>
        </p:nvSpPr>
        <p:spPr>
          <a:xfrm>
            <a:off x="0" y="0"/>
            <a:ext cx="12190320" cy="951120"/>
          </a:xfrm>
          <a:prstGeom prst="rect">
            <a:avLst/>
          </a:prstGeom>
          <a:solidFill>
            <a:srgbClr val="197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2" name="Rounded Rectangle 2"/>
          <p:cNvSpPr/>
          <p:nvPr/>
        </p:nvSpPr>
        <p:spPr>
          <a:xfrm>
            <a:off x="666720" y="247680"/>
            <a:ext cx="55800" cy="455760"/>
          </a:xfrm>
          <a:prstGeom prst="roundRect">
            <a:avLst>
              <a:gd name="adj" fmla="val 333300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3" name="TextBox 3"/>
          <p:cNvSpPr/>
          <p:nvPr/>
        </p:nvSpPr>
        <p:spPr>
          <a:xfrm>
            <a:off x="876240" y="190440"/>
            <a:ext cx="4627440" cy="57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3900"/>
              </a:lnSpc>
            </a:pPr>
            <a:r>
              <a:rPr b="1" lang="en-US" sz="2390" strike="noStrike" u="none">
                <a:solidFill>
                  <a:srgbClr val="ffffff"/>
                </a:solidFill>
                <a:effectLst/>
                <a:uFillTx/>
                <a:latin typeface="Montserrat"/>
              </a:rPr>
              <a:t>Hardware Components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Rounded Rectangle 5"/>
          <p:cNvSpPr/>
          <p:nvPr/>
        </p:nvSpPr>
        <p:spPr>
          <a:xfrm>
            <a:off x="666720" y="1428480"/>
            <a:ext cx="3494160" cy="140832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651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5" name="Rounded Rectangle 6"/>
          <p:cNvSpPr/>
          <p:nvPr/>
        </p:nvSpPr>
        <p:spPr>
          <a:xfrm>
            <a:off x="876240" y="1638000"/>
            <a:ext cx="417600" cy="417600"/>
          </a:xfrm>
          <a:prstGeom prst="roundRect">
            <a:avLst>
              <a:gd name="adj" fmla="val 36363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6" name="TextBox 7"/>
          <p:cNvSpPr/>
          <p:nvPr/>
        </p:nvSpPr>
        <p:spPr>
          <a:xfrm>
            <a:off x="876240" y="1676520"/>
            <a:ext cx="32040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01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8"/>
          <p:cNvSpPr/>
          <p:nvPr/>
        </p:nvSpPr>
        <p:spPr>
          <a:xfrm>
            <a:off x="1409760" y="1677600"/>
            <a:ext cx="120492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20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Arduino Nano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8" name="Picture 9" descr="image.png"/>
          <p:cNvPicPr/>
          <p:nvPr/>
        </p:nvPicPr>
        <p:blipFill>
          <a:blip r:embed="rId1"/>
          <a:stretch/>
        </p:blipFill>
        <p:spPr>
          <a:xfrm>
            <a:off x="876240" y="2254320"/>
            <a:ext cx="227160" cy="17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9" name="TextBox 10"/>
          <p:cNvSpPr/>
          <p:nvPr/>
        </p:nvSpPr>
        <p:spPr>
          <a:xfrm>
            <a:off x="1181160" y="2147760"/>
            <a:ext cx="277020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Main microcontroller for system control and logic processing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Rounded Rectangle 11"/>
          <p:cNvSpPr/>
          <p:nvPr/>
        </p:nvSpPr>
        <p:spPr>
          <a:xfrm>
            <a:off x="4352760" y="1428480"/>
            <a:ext cx="3494160" cy="140832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651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1" name="Rounded Rectangle 12"/>
          <p:cNvSpPr/>
          <p:nvPr/>
        </p:nvSpPr>
        <p:spPr>
          <a:xfrm>
            <a:off x="4562280" y="1638000"/>
            <a:ext cx="417600" cy="417600"/>
          </a:xfrm>
          <a:prstGeom prst="roundRect">
            <a:avLst>
              <a:gd name="adj" fmla="val 36363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2" name="TextBox 13"/>
          <p:cNvSpPr/>
          <p:nvPr/>
        </p:nvSpPr>
        <p:spPr>
          <a:xfrm>
            <a:off x="4562280" y="1676520"/>
            <a:ext cx="32040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02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14"/>
          <p:cNvSpPr/>
          <p:nvPr/>
        </p:nvSpPr>
        <p:spPr>
          <a:xfrm>
            <a:off x="5095800" y="1677600"/>
            <a:ext cx="63468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20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ESP-32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4" name="Picture 15" descr="image.png"/>
          <p:cNvPicPr/>
          <p:nvPr/>
        </p:nvPicPr>
        <p:blipFill>
          <a:blip r:embed="rId2"/>
          <a:stretch/>
        </p:blipFill>
        <p:spPr>
          <a:xfrm>
            <a:off x="4562280" y="2262960"/>
            <a:ext cx="227160" cy="15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5" name="TextBox 16"/>
          <p:cNvSpPr/>
          <p:nvPr/>
        </p:nvSpPr>
        <p:spPr>
          <a:xfrm>
            <a:off x="4867200" y="2147760"/>
            <a:ext cx="277020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WiFi/Bluetooth module for remote monitoring connectivity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Rounded Rectangle 17"/>
          <p:cNvSpPr/>
          <p:nvPr/>
        </p:nvSpPr>
        <p:spPr>
          <a:xfrm>
            <a:off x="8029440" y="1428480"/>
            <a:ext cx="3494160" cy="140832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651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7" name="Rounded Rectangle 18"/>
          <p:cNvSpPr/>
          <p:nvPr/>
        </p:nvSpPr>
        <p:spPr>
          <a:xfrm>
            <a:off x="8238960" y="1638000"/>
            <a:ext cx="417600" cy="417600"/>
          </a:xfrm>
          <a:prstGeom prst="roundRect">
            <a:avLst>
              <a:gd name="adj" fmla="val 36363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8" name="TextBox 19"/>
          <p:cNvSpPr/>
          <p:nvPr/>
        </p:nvSpPr>
        <p:spPr>
          <a:xfrm>
            <a:off x="8238960" y="1676520"/>
            <a:ext cx="32040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03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Box 20"/>
          <p:cNvSpPr/>
          <p:nvPr/>
        </p:nvSpPr>
        <p:spPr>
          <a:xfrm>
            <a:off x="8772480" y="1677600"/>
            <a:ext cx="44136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20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PCB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0" name="Picture 21" descr="image.png"/>
          <p:cNvPicPr/>
          <p:nvPr/>
        </p:nvPicPr>
        <p:blipFill>
          <a:blip r:embed="rId3"/>
          <a:stretch/>
        </p:blipFill>
        <p:spPr>
          <a:xfrm>
            <a:off x="8238960" y="2254320"/>
            <a:ext cx="227160" cy="17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1" name="TextBox 22"/>
          <p:cNvSpPr/>
          <p:nvPr/>
        </p:nvSpPr>
        <p:spPr>
          <a:xfrm>
            <a:off x="8543880" y="2147760"/>
            <a:ext cx="277020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Custom printed circuit board for compact and reliable connections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Rounded Rectangle 35"/>
          <p:cNvSpPr/>
          <p:nvPr/>
        </p:nvSpPr>
        <p:spPr>
          <a:xfrm>
            <a:off x="4357440" y="3028680"/>
            <a:ext cx="3494160" cy="140832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651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3" name="Rounded Rectangle 36"/>
          <p:cNvSpPr/>
          <p:nvPr/>
        </p:nvSpPr>
        <p:spPr>
          <a:xfrm>
            <a:off x="4566960" y="3238200"/>
            <a:ext cx="417600" cy="417600"/>
          </a:xfrm>
          <a:prstGeom prst="roundRect">
            <a:avLst>
              <a:gd name="adj" fmla="val 36363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4" name="TextBox 37"/>
          <p:cNvSpPr/>
          <p:nvPr/>
        </p:nvSpPr>
        <p:spPr>
          <a:xfrm>
            <a:off x="4566960" y="3276720"/>
            <a:ext cx="32040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06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Box 38"/>
          <p:cNvSpPr/>
          <p:nvPr/>
        </p:nvSpPr>
        <p:spPr>
          <a:xfrm>
            <a:off x="5100480" y="3277800"/>
            <a:ext cx="107784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20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Servo Motor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6" name="Picture 39" descr="image.png"/>
          <p:cNvPicPr/>
          <p:nvPr/>
        </p:nvPicPr>
        <p:blipFill>
          <a:blip r:embed="rId4"/>
          <a:stretch/>
        </p:blipFill>
        <p:spPr>
          <a:xfrm>
            <a:off x="4566960" y="3845880"/>
            <a:ext cx="22716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7" name="TextBox 40"/>
          <p:cNvSpPr/>
          <p:nvPr/>
        </p:nvSpPr>
        <p:spPr>
          <a:xfrm>
            <a:off x="4871880" y="3747960"/>
            <a:ext cx="277020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Actuator for precise medicine dispensing mechanism control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Rounded Rectangle 41"/>
          <p:cNvSpPr/>
          <p:nvPr/>
        </p:nvSpPr>
        <p:spPr>
          <a:xfrm>
            <a:off x="666720" y="4628880"/>
            <a:ext cx="3494160" cy="140832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651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9" name="Rounded Rectangle 42"/>
          <p:cNvSpPr/>
          <p:nvPr/>
        </p:nvSpPr>
        <p:spPr>
          <a:xfrm>
            <a:off x="876240" y="4838400"/>
            <a:ext cx="417600" cy="417600"/>
          </a:xfrm>
          <a:prstGeom prst="roundRect">
            <a:avLst>
              <a:gd name="adj" fmla="val 36363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0" name="TextBox 43"/>
          <p:cNvSpPr/>
          <p:nvPr/>
        </p:nvSpPr>
        <p:spPr>
          <a:xfrm>
            <a:off x="876240" y="4876920"/>
            <a:ext cx="32040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07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Box 44"/>
          <p:cNvSpPr/>
          <p:nvPr/>
        </p:nvSpPr>
        <p:spPr>
          <a:xfrm>
            <a:off x="1409760" y="4878000"/>
            <a:ext cx="91692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20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IR Module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2" name="Picture 45" descr="image.png"/>
          <p:cNvPicPr/>
          <p:nvPr/>
        </p:nvPicPr>
        <p:blipFill>
          <a:blip r:embed="rId5"/>
          <a:stretch/>
        </p:blipFill>
        <p:spPr>
          <a:xfrm>
            <a:off x="876240" y="5469120"/>
            <a:ext cx="227160" cy="14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3" name="TextBox 46"/>
          <p:cNvSpPr/>
          <p:nvPr/>
        </p:nvSpPr>
        <p:spPr>
          <a:xfrm>
            <a:off x="1181160" y="5348160"/>
            <a:ext cx="277020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Infrared sensor for detecting medicine collection status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Rounded Rectangle 47"/>
          <p:cNvSpPr/>
          <p:nvPr/>
        </p:nvSpPr>
        <p:spPr>
          <a:xfrm>
            <a:off x="4352760" y="4628880"/>
            <a:ext cx="3494160" cy="140832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651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5" name="Rounded Rectangle 48"/>
          <p:cNvSpPr/>
          <p:nvPr/>
        </p:nvSpPr>
        <p:spPr>
          <a:xfrm>
            <a:off x="4562280" y="4838400"/>
            <a:ext cx="417600" cy="417600"/>
          </a:xfrm>
          <a:prstGeom prst="roundRect">
            <a:avLst>
              <a:gd name="adj" fmla="val 36363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6" name="TextBox 49"/>
          <p:cNvSpPr/>
          <p:nvPr/>
        </p:nvSpPr>
        <p:spPr>
          <a:xfrm>
            <a:off x="4562280" y="4876920"/>
            <a:ext cx="32040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08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Box 50"/>
          <p:cNvSpPr/>
          <p:nvPr/>
        </p:nvSpPr>
        <p:spPr>
          <a:xfrm>
            <a:off x="5095800" y="4878000"/>
            <a:ext cx="72216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20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I2C LCD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8" name="Picture 51" descr="image.png"/>
          <p:cNvPicPr/>
          <p:nvPr/>
        </p:nvPicPr>
        <p:blipFill>
          <a:blip r:embed="rId6"/>
          <a:stretch/>
        </p:blipFill>
        <p:spPr>
          <a:xfrm>
            <a:off x="4562280" y="5454720"/>
            <a:ext cx="227160" cy="17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9" name="TextBox 52"/>
          <p:cNvSpPr/>
          <p:nvPr/>
        </p:nvSpPr>
        <p:spPr>
          <a:xfrm>
            <a:off x="4867200" y="5348160"/>
            <a:ext cx="277020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16x2 display unit for system information and user feedback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Rounded Rectangle 53"/>
          <p:cNvSpPr/>
          <p:nvPr/>
        </p:nvSpPr>
        <p:spPr>
          <a:xfrm>
            <a:off x="8029440" y="4628880"/>
            <a:ext cx="3494160" cy="140832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651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1" name="Rounded Rectangle 54"/>
          <p:cNvSpPr/>
          <p:nvPr/>
        </p:nvSpPr>
        <p:spPr>
          <a:xfrm>
            <a:off x="8238960" y="4838400"/>
            <a:ext cx="417600" cy="417600"/>
          </a:xfrm>
          <a:prstGeom prst="roundRect">
            <a:avLst>
              <a:gd name="adj" fmla="val 36363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2" name="TextBox 55"/>
          <p:cNvSpPr/>
          <p:nvPr/>
        </p:nvSpPr>
        <p:spPr>
          <a:xfrm>
            <a:off x="8238960" y="4876920"/>
            <a:ext cx="32040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09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Box 56"/>
          <p:cNvSpPr/>
          <p:nvPr/>
        </p:nvSpPr>
        <p:spPr>
          <a:xfrm>
            <a:off x="8772480" y="4878000"/>
            <a:ext cx="70596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20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Keypad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4" name="Picture 57" descr="image.png"/>
          <p:cNvPicPr/>
          <p:nvPr/>
        </p:nvPicPr>
        <p:blipFill>
          <a:blip r:embed="rId7"/>
          <a:stretch/>
        </p:blipFill>
        <p:spPr>
          <a:xfrm>
            <a:off x="8238960" y="5472000"/>
            <a:ext cx="227160" cy="14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5" name="TextBox 58"/>
          <p:cNvSpPr/>
          <p:nvPr/>
        </p:nvSpPr>
        <p:spPr>
          <a:xfrm>
            <a:off x="8543880" y="5348160"/>
            <a:ext cx="277020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4x4 matrix keypad for user input and schedule configuration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1"/>
          <p:cNvSpPr>
            <a:spLocks noGrp="1"/>
          </p:cNvSpPr>
          <p:nvPr>
            <p:ph type="sldNum" idx="42"/>
          </p:nvPr>
        </p:nvSpPr>
        <p:spPr>
          <a:xfrm>
            <a:off x="10048320" y="649404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52E1DDA-F96E-4A00-9913-101301133B7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9fafb"/>
            </a:gs>
            <a:gs pos="100000">
              <a:srgbClr val="eff6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Rectangle 1"/>
          <p:cNvSpPr/>
          <p:nvPr/>
        </p:nvSpPr>
        <p:spPr>
          <a:xfrm>
            <a:off x="0" y="0"/>
            <a:ext cx="12190320" cy="951120"/>
          </a:xfrm>
          <a:prstGeom prst="rect">
            <a:avLst/>
          </a:prstGeom>
          <a:solidFill>
            <a:srgbClr val="197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8" name="Rounded Rectangle 2"/>
          <p:cNvSpPr/>
          <p:nvPr/>
        </p:nvSpPr>
        <p:spPr>
          <a:xfrm>
            <a:off x="666720" y="247680"/>
            <a:ext cx="55800" cy="455760"/>
          </a:xfrm>
          <a:prstGeom prst="roundRect">
            <a:avLst>
              <a:gd name="adj" fmla="val 333300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9" name="TextBox 3"/>
          <p:cNvSpPr/>
          <p:nvPr/>
        </p:nvSpPr>
        <p:spPr>
          <a:xfrm>
            <a:off x="876240" y="190440"/>
            <a:ext cx="7399440" cy="57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3900"/>
              </a:lnSpc>
            </a:pPr>
            <a:r>
              <a:rPr b="1" lang="en-US" sz="2390" strike="noStrike" u="none">
                <a:solidFill>
                  <a:srgbClr val="ffffff"/>
                </a:solidFill>
                <a:effectLst/>
                <a:uFillTx/>
                <a:latin typeface="Montserrat"/>
              </a:rPr>
              <a:t>System Architecture - Block Diagram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Rounded Rectangle 4"/>
          <p:cNvSpPr/>
          <p:nvPr/>
        </p:nvSpPr>
        <p:spPr>
          <a:xfrm>
            <a:off x="4581360" y="1257480"/>
            <a:ext cx="3036960" cy="912960"/>
          </a:xfrm>
          <a:prstGeom prst="roundRect">
            <a:avLst>
              <a:gd name="adj" fmla="val 33333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108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51" name="Picture 5" descr="image.png"/>
          <p:cNvPicPr/>
          <p:nvPr/>
        </p:nvPicPr>
        <p:blipFill>
          <a:blip r:embed="rId1"/>
          <a:stretch/>
        </p:blipFill>
        <p:spPr>
          <a:xfrm>
            <a:off x="4962240" y="1540080"/>
            <a:ext cx="455760" cy="34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2" name="TextBox 6"/>
          <p:cNvSpPr/>
          <p:nvPr/>
        </p:nvSpPr>
        <p:spPr>
          <a:xfrm>
            <a:off x="5572080" y="1447920"/>
            <a:ext cx="166536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081"/>
              </a:lnSpc>
            </a:pPr>
            <a:r>
              <a:rPr b="1" lang="en-US" sz="1430" strike="noStrike" u="none">
                <a:solidFill>
                  <a:srgbClr val="ffffff"/>
                </a:solidFill>
                <a:effectLst/>
                <a:uFillTx/>
                <a:latin typeface="Montserrat"/>
              </a:rPr>
              <a:t>Arduino Nano</a:t>
            </a:r>
            <a:endParaRPr b="0" lang="en-US" sz="14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Box 7"/>
          <p:cNvSpPr/>
          <p:nvPr/>
        </p:nvSpPr>
        <p:spPr>
          <a:xfrm>
            <a:off x="5572080" y="1752480"/>
            <a:ext cx="1665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Main Controller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Rounded Rectangle 8"/>
          <p:cNvSpPr/>
          <p:nvPr/>
        </p:nvSpPr>
        <p:spPr>
          <a:xfrm>
            <a:off x="666720" y="2400480"/>
            <a:ext cx="2570400" cy="9129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55" name="Picture 9" descr="image.png"/>
          <p:cNvPicPr/>
          <p:nvPr/>
        </p:nvPicPr>
        <p:blipFill>
          <a:blip r:embed="rId2"/>
          <a:stretch/>
        </p:blipFill>
        <p:spPr>
          <a:xfrm>
            <a:off x="819000" y="2613240"/>
            <a:ext cx="284400" cy="22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6" name="TextBox 10"/>
          <p:cNvSpPr/>
          <p:nvPr/>
        </p:nvSpPr>
        <p:spPr>
          <a:xfrm>
            <a:off x="1219320" y="2554200"/>
            <a:ext cx="585360" cy="3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ESP-32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Box 11"/>
          <p:cNvSpPr/>
          <p:nvPr/>
        </p:nvSpPr>
        <p:spPr>
          <a:xfrm>
            <a:off x="819000" y="2971800"/>
            <a:ext cx="22654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WiFi/Bluetooth Communication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Rounded Rectangle 12"/>
          <p:cNvSpPr/>
          <p:nvPr/>
        </p:nvSpPr>
        <p:spPr>
          <a:xfrm>
            <a:off x="3429000" y="2400480"/>
            <a:ext cx="2570400" cy="9129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59" name="Picture 13" descr="image.png"/>
          <p:cNvPicPr/>
          <p:nvPr/>
        </p:nvPicPr>
        <p:blipFill>
          <a:blip r:embed="rId3"/>
          <a:stretch/>
        </p:blipFill>
        <p:spPr>
          <a:xfrm>
            <a:off x="3581280" y="2601720"/>
            <a:ext cx="284400" cy="24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0" name="TextBox 14"/>
          <p:cNvSpPr/>
          <p:nvPr/>
        </p:nvSpPr>
        <p:spPr>
          <a:xfrm>
            <a:off x="3981240" y="2518200"/>
            <a:ext cx="984240" cy="3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Servo Motor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Box 15"/>
          <p:cNvSpPr/>
          <p:nvPr/>
        </p:nvSpPr>
        <p:spPr>
          <a:xfrm>
            <a:off x="3581280" y="2971800"/>
            <a:ext cx="22654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Medicine Dispensing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Rounded Rectangle 16"/>
          <p:cNvSpPr/>
          <p:nvPr/>
        </p:nvSpPr>
        <p:spPr>
          <a:xfrm>
            <a:off x="6190920" y="2400480"/>
            <a:ext cx="2570400" cy="9129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63" name="Picture 17" descr="image.png"/>
          <p:cNvPicPr/>
          <p:nvPr/>
        </p:nvPicPr>
        <p:blipFill>
          <a:blip r:embed="rId4"/>
          <a:stretch/>
        </p:blipFill>
        <p:spPr>
          <a:xfrm>
            <a:off x="6343560" y="2633760"/>
            <a:ext cx="284400" cy="17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4" name="TextBox 18"/>
          <p:cNvSpPr/>
          <p:nvPr/>
        </p:nvSpPr>
        <p:spPr>
          <a:xfrm>
            <a:off x="6743520" y="2518200"/>
            <a:ext cx="787320" cy="3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IR Sensor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Box 19"/>
          <p:cNvSpPr/>
          <p:nvPr/>
        </p:nvSpPr>
        <p:spPr>
          <a:xfrm>
            <a:off x="6343560" y="2971800"/>
            <a:ext cx="22654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Medicine Detection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Rounded Rectangle 20"/>
          <p:cNvSpPr/>
          <p:nvPr/>
        </p:nvSpPr>
        <p:spPr>
          <a:xfrm>
            <a:off x="8953200" y="2400480"/>
            <a:ext cx="2570400" cy="9129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67" name="Picture 21" descr="image.png"/>
          <p:cNvPicPr/>
          <p:nvPr/>
        </p:nvPicPr>
        <p:blipFill>
          <a:blip r:embed="rId5"/>
          <a:stretch/>
        </p:blipFill>
        <p:spPr>
          <a:xfrm>
            <a:off x="9105840" y="2613240"/>
            <a:ext cx="284400" cy="22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8" name="TextBox 22"/>
          <p:cNvSpPr/>
          <p:nvPr/>
        </p:nvSpPr>
        <p:spPr>
          <a:xfrm>
            <a:off x="9505800" y="2518200"/>
            <a:ext cx="946080" cy="3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LCD Display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Box 23"/>
          <p:cNvSpPr/>
          <p:nvPr/>
        </p:nvSpPr>
        <p:spPr>
          <a:xfrm>
            <a:off x="9105840" y="2971800"/>
            <a:ext cx="22654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User Interface Output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Rounded Rectangle 24"/>
          <p:cNvSpPr/>
          <p:nvPr/>
        </p:nvSpPr>
        <p:spPr>
          <a:xfrm>
            <a:off x="2394720" y="3505320"/>
            <a:ext cx="2570400" cy="9129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71" name="Picture 25" descr="image.png"/>
          <p:cNvPicPr/>
          <p:nvPr/>
        </p:nvPicPr>
        <p:blipFill>
          <a:blip r:embed="rId6"/>
          <a:stretch/>
        </p:blipFill>
        <p:spPr>
          <a:xfrm>
            <a:off x="2547000" y="3738600"/>
            <a:ext cx="284400" cy="17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2" name="TextBox 26"/>
          <p:cNvSpPr/>
          <p:nvPr/>
        </p:nvSpPr>
        <p:spPr>
          <a:xfrm>
            <a:off x="2947320" y="3623040"/>
            <a:ext cx="649800" cy="3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Keypad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Box 27"/>
          <p:cNvSpPr/>
          <p:nvPr/>
        </p:nvSpPr>
        <p:spPr>
          <a:xfrm>
            <a:off x="2547000" y="4076640"/>
            <a:ext cx="22654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User Input Device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Rounded Rectangle 32"/>
          <p:cNvSpPr/>
          <p:nvPr/>
        </p:nvSpPr>
        <p:spPr>
          <a:xfrm>
            <a:off x="5146920" y="3505320"/>
            <a:ext cx="2570400" cy="9129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75" name="Picture 33" descr="image.png"/>
          <p:cNvPicPr/>
          <p:nvPr/>
        </p:nvPicPr>
        <p:blipFill>
          <a:blip r:embed="rId7"/>
          <a:stretch/>
        </p:blipFill>
        <p:spPr>
          <a:xfrm>
            <a:off x="5299560" y="3709440"/>
            <a:ext cx="284400" cy="23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6" name="TextBox 34"/>
          <p:cNvSpPr/>
          <p:nvPr/>
        </p:nvSpPr>
        <p:spPr>
          <a:xfrm>
            <a:off x="5699520" y="3623040"/>
            <a:ext cx="604440" cy="3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Buzzer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Box 35"/>
          <p:cNvSpPr/>
          <p:nvPr/>
        </p:nvSpPr>
        <p:spPr>
          <a:xfrm>
            <a:off x="5299560" y="4076640"/>
            <a:ext cx="22654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Audio Alerts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Rounded Rectangle 36"/>
          <p:cNvSpPr/>
          <p:nvPr/>
        </p:nvSpPr>
        <p:spPr>
          <a:xfrm>
            <a:off x="7909200" y="3505320"/>
            <a:ext cx="2570400" cy="9129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79" name="Picture 37" descr="image.png"/>
          <p:cNvPicPr/>
          <p:nvPr/>
        </p:nvPicPr>
        <p:blipFill>
          <a:blip r:embed="rId8"/>
          <a:stretch/>
        </p:blipFill>
        <p:spPr>
          <a:xfrm>
            <a:off x="8061840" y="3718080"/>
            <a:ext cx="284400" cy="22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0" name="TextBox 38"/>
          <p:cNvSpPr/>
          <p:nvPr/>
        </p:nvSpPr>
        <p:spPr>
          <a:xfrm>
            <a:off x="8461800" y="3623040"/>
            <a:ext cx="1069560" cy="3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Power Supply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Box 39"/>
          <p:cNvSpPr/>
          <p:nvPr/>
        </p:nvSpPr>
        <p:spPr>
          <a:xfrm>
            <a:off x="8061840" y="4076640"/>
            <a:ext cx="22654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5V DC Power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Rounded Rectangle 40"/>
          <p:cNvSpPr/>
          <p:nvPr/>
        </p:nvSpPr>
        <p:spPr>
          <a:xfrm>
            <a:off x="666720" y="4724280"/>
            <a:ext cx="10856880" cy="1246320"/>
          </a:xfrm>
          <a:prstGeom prst="roundRect">
            <a:avLst>
              <a:gd name="adj" fmla="val 1832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83" name="Picture 41" descr="image.png"/>
          <p:cNvPicPr/>
          <p:nvPr/>
        </p:nvPicPr>
        <p:blipFill>
          <a:blip r:embed="rId9"/>
          <a:stretch/>
        </p:blipFill>
        <p:spPr>
          <a:xfrm>
            <a:off x="857160" y="4995720"/>
            <a:ext cx="227160" cy="14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4" name="TextBox 42"/>
          <p:cNvSpPr/>
          <p:nvPr/>
        </p:nvSpPr>
        <p:spPr>
          <a:xfrm>
            <a:off x="1200240" y="4933800"/>
            <a:ext cx="241776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20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Data Flow &amp; Communication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Rounded Rectangle 43"/>
          <p:cNvSpPr/>
          <p:nvPr/>
        </p:nvSpPr>
        <p:spPr>
          <a:xfrm>
            <a:off x="857160" y="5334120"/>
            <a:ext cx="341280" cy="446400"/>
          </a:xfrm>
          <a:prstGeom prst="roundRect">
            <a:avLst>
              <a:gd name="adj" fmla="val 44444"/>
            </a:avLst>
          </a:prstGeom>
          <a:solidFill>
            <a:srgbClr val="dbe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86" name="Picture 44" descr="image.png"/>
          <p:cNvPicPr/>
          <p:nvPr/>
        </p:nvPicPr>
        <p:blipFill>
          <a:blip r:embed="rId10"/>
          <a:stretch/>
        </p:blipFill>
        <p:spPr>
          <a:xfrm>
            <a:off x="933480" y="5473440"/>
            <a:ext cx="189000" cy="13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7" name="TextBox 45"/>
          <p:cNvSpPr/>
          <p:nvPr/>
        </p:nvSpPr>
        <p:spPr>
          <a:xfrm>
            <a:off x="1314360" y="5334120"/>
            <a:ext cx="177984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1" lang="en-US" sz="839" strike="noStrike" u="none">
                <a:solidFill>
                  <a:srgbClr val="374151"/>
                </a:solidFill>
                <a:effectLst/>
                <a:uFillTx/>
                <a:latin typeface="Roboto"/>
              </a:rPr>
              <a:t>Input Devices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46"/>
          <p:cNvSpPr/>
          <p:nvPr/>
        </p:nvSpPr>
        <p:spPr>
          <a:xfrm>
            <a:off x="1314360" y="5524560"/>
            <a:ext cx="177984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040"/>
              </a:lnSpc>
            </a:pPr>
            <a:r>
              <a:rPr b="0" lang="en-US" sz="71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Keypad → Arduino (schedule, time)</a:t>
            </a:r>
            <a:endParaRPr b="0" lang="en-US" sz="7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Rounded Rectangle 47"/>
          <p:cNvSpPr/>
          <p:nvPr/>
        </p:nvSpPr>
        <p:spPr>
          <a:xfrm>
            <a:off x="4429080" y="5334120"/>
            <a:ext cx="341280" cy="446400"/>
          </a:xfrm>
          <a:prstGeom prst="roundRect">
            <a:avLst>
              <a:gd name="adj" fmla="val 44444"/>
            </a:avLst>
          </a:prstGeom>
          <a:solidFill>
            <a:srgbClr val="dbe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90" name="Picture 48" descr="image.png"/>
          <p:cNvPicPr/>
          <p:nvPr/>
        </p:nvPicPr>
        <p:blipFill>
          <a:blip r:embed="rId11"/>
          <a:stretch/>
        </p:blipFill>
        <p:spPr>
          <a:xfrm>
            <a:off x="4505040" y="5473440"/>
            <a:ext cx="189000" cy="13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1" name="TextBox 49"/>
          <p:cNvSpPr/>
          <p:nvPr/>
        </p:nvSpPr>
        <p:spPr>
          <a:xfrm>
            <a:off x="4886280" y="5334120"/>
            <a:ext cx="15033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1" lang="en-US" sz="839" strike="noStrike" u="none">
                <a:solidFill>
                  <a:srgbClr val="374151"/>
                </a:solidFill>
                <a:effectLst/>
                <a:uFillTx/>
                <a:latin typeface="Roboto"/>
              </a:rPr>
              <a:t>Output Devices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Box 50"/>
          <p:cNvSpPr/>
          <p:nvPr/>
        </p:nvSpPr>
        <p:spPr>
          <a:xfrm>
            <a:off x="4886280" y="5524560"/>
            <a:ext cx="150336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040"/>
              </a:lnSpc>
            </a:pPr>
            <a:r>
              <a:rPr b="0" lang="en-US" sz="71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Arduino → Servo, LCD, Buzzer</a:t>
            </a:r>
            <a:endParaRPr b="0" lang="en-US" sz="7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Rounded Rectangle 51"/>
          <p:cNvSpPr/>
          <p:nvPr/>
        </p:nvSpPr>
        <p:spPr>
          <a:xfrm>
            <a:off x="7991280" y="5334120"/>
            <a:ext cx="341280" cy="446400"/>
          </a:xfrm>
          <a:prstGeom prst="roundRect">
            <a:avLst>
              <a:gd name="adj" fmla="val 44444"/>
            </a:avLst>
          </a:prstGeom>
          <a:solidFill>
            <a:srgbClr val="dbe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94" name="Picture 52" descr="image.png"/>
          <p:cNvPicPr/>
          <p:nvPr/>
        </p:nvPicPr>
        <p:blipFill>
          <a:blip r:embed="rId12"/>
          <a:stretch/>
        </p:blipFill>
        <p:spPr>
          <a:xfrm>
            <a:off x="8067600" y="5473440"/>
            <a:ext cx="189000" cy="13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5" name="TextBox 53"/>
          <p:cNvSpPr/>
          <p:nvPr/>
        </p:nvSpPr>
        <p:spPr>
          <a:xfrm>
            <a:off x="8448480" y="5334120"/>
            <a:ext cx="158904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1" lang="en-US" sz="839" strike="noStrike" u="none">
                <a:solidFill>
                  <a:srgbClr val="374151"/>
                </a:solidFill>
                <a:effectLst/>
                <a:uFillTx/>
                <a:latin typeface="Roboto"/>
              </a:rPr>
              <a:t>Feedback Loop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Box 54"/>
          <p:cNvSpPr/>
          <p:nvPr/>
        </p:nvSpPr>
        <p:spPr>
          <a:xfrm>
            <a:off x="8448480" y="5524560"/>
            <a:ext cx="158904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040"/>
              </a:lnSpc>
            </a:pPr>
            <a:r>
              <a:rPr b="0" lang="en-US" sz="71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IR Sensor → Arduino → ESP-32</a:t>
            </a:r>
            <a:endParaRPr b="0" lang="en-US" sz="7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PlaceHolder 1"/>
          <p:cNvSpPr>
            <a:spLocks noGrp="1"/>
          </p:cNvSpPr>
          <p:nvPr>
            <p:ph type="sldNum" idx="43"/>
          </p:nvPr>
        </p:nvSpPr>
        <p:spPr>
          <a:xfrm>
            <a:off x="10059480" y="649404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3F611DF-EE5D-4B1C-BCAE-74F6BC08F47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9fafb"/>
            </a:gs>
            <a:gs pos="100000">
              <a:srgbClr val="eff6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Rectangle 1"/>
          <p:cNvSpPr/>
          <p:nvPr/>
        </p:nvSpPr>
        <p:spPr>
          <a:xfrm>
            <a:off x="0" y="0"/>
            <a:ext cx="12190320" cy="951120"/>
          </a:xfrm>
          <a:prstGeom prst="rect">
            <a:avLst/>
          </a:prstGeom>
          <a:solidFill>
            <a:srgbClr val="197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9" name="Rounded Rectangle 2"/>
          <p:cNvSpPr/>
          <p:nvPr/>
        </p:nvSpPr>
        <p:spPr>
          <a:xfrm>
            <a:off x="666720" y="247680"/>
            <a:ext cx="55800" cy="455760"/>
          </a:xfrm>
          <a:prstGeom prst="roundRect">
            <a:avLst>
              <a:gd name="adj" fmla="val 333300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0" name="TextBox 3"/>
          <p:cNvSpPr/>
          <p:nvPr/>
        </p:nvSpPr>
        <p:spPr>
          <a:xfrm>
            <a:off x="876240" y="190440"/>
            <a:ext cx="5827680" cy="57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3900"/>
              </a:lnSpc>
            </a:pPr>
            <a:r>
              <a:rPr b="1" lang="en-US" sz="2390" strike="noStrike" u="none">
                <a:solidFill>
                  <a:srgbClr val="ffffff"/>
                </a:solidFill>
                <a:effectLst/>
                <a:uFillTx/>
                <a:latin typeface="Montserrat"/>
              </a:rPr>
              <a:t>Circuit Design &amp; Connections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Rounded Rectangle 4"/>
          <p:cNvSpPr/>
          <p:nvPr/>
        </p:nvSpPr>
        <p:spPr>
          <a:xfrm>
            <a:off x="4114800" y="1181160"/>
            <a:ext cx="3960720" cy="684360"/>
          </a:xfrm>
          <a:prstGeom prst="roundRect">
            <a:avLst>
              <a:gd name="adj" fmla="val 44444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108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02" name="Picture 5" descr="image.png"/>
          <p:cNvPicPr/>
          <p:nvPr/>
        </p:nvPicPr>
        <p:blipFill>
          <a:blip r:embed="rId1"/>
          <a:stretch/>
        </p:blipFill>
        <p:spPr>
          <a:xfrm>
            <a:off x="4419360" y="1391040"/>
            <a:ext cx="341280" cy="26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3" name="TextBox 6"/>
          <p:cNvSpPr/>
          <p:nvPr/>
        </p:nvSpPr>
        <p:spPr>
          <a:xfrm>
            <a:off x="4876560" y="1258560"/>
            <a:ext cx="124452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Montserrat"/>
              </a:rPr>
              <a:t>Arduino Nano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Box 7"/>
          <p:cNvSpPr/>
          <p:nvPr/>
        </p:nvSpPr>
        <p:spPr>
          <a:xfrm>
            <a:off x="4876560" y="1562040"/>
            <a:ext cx="289404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Central Processing Unit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Rounded Rectangle 8"/>
          <p:cNvSpPr/>
          <p:nvPr/>
        </p:nvSpPr>
        <p:spPr>
          <a:xfrm>
            <a:off x="666720" y="2057400"/>
            <a:ext cx="5011920" cy="890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06" name="Picture 9" descr="image.png"/>
          <p:cNvPicPr/>
          <p:nvPr/>
        </p:nvPicPr>
        <p:blipFill>
          <a:blip r:embed="rId2"/>
          <a:stretch/>
        </p:blipFill>
        <p:spPr>
          <a:xfrm>
            <a:off x="805320" y="2271600"/>
            <a:ext cx="271080" cy="19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7" name="TextBox 10"/>
          <p:cNvSpPr/>
          <p:nvPr/>
        </p:nvSpPr>
        <p:spPr>
          <a:xfrm>
            <a:off x="1178640" y="2110680"/>
            <a:ext cx="143064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Servo Motor (SG90)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Box 11"/>
          <p:cNvSpPr/>
          <p:nvPr/>
        </p:nvSpPr>
        <p:spPr>
          <a:xfrm>
            <a:off x="1178640" y="2355120"/>
            <a:ext cx="179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  <a:spcBef>
                <a:spcPts val="261"/>
              </a:spcBef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Medicine Dispensing Mechanism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Rounded Rectangle 12"/>
          <p:cNvSpPr/>
          <p:nvPr/>
        </p:nvSpPr>
        <p:spPr>
          <a:xfrm>
            <a:off x="4803840" y="2178000"/>
            <a:ext cx="736200" cy="201960"/>
          </a:xfrm>
          <a:prstGeom prst="roundRect">
            <a:avLst>
              <a:gd name="adj" fmla="val 57142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0" name="TextBox 13"/>
          <p:cNvSpPr/>
          <p:nvPr/>
        </p:nvSpPr>
        <p:spPr>
          <a:xfrm>
            <a:off x="4803840" y="2143440"/>
            <a:ext cx="614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1" lang="en-US" sz="839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PWM Pin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Box 14"/>
          <p:cNvSpPr/>
          <p:nvPr/>
        </p:nvSpPr>
        <p:spPr>
          <a:xfrm>
            <a:off x="805320" y="2623680"/>
            <a:ext cx="76284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040"/>
              </a:lnSpc>
            </a:pPr>
            <a:r>
              <a:rPr b="0" lang="en-US" sz="710" strike="noStrike" u="none">
                <a:solidFill>
                  <a:srgbClr val="6b7280"/>
                </a:solidFill>
                <a:effectLst/>
                <a:uFillTx/>
                <a:latin typeface="Roboto"/>
              </a:rPr>
              <a:t>Control Signal:</a:t>
            </a:r>
            <a:endParaRPr b="0" lang="en-US" sz="7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Rounded Rectangle 15"/>
          <p:cNvSpPr/>
          <p:nvPr/>
        </p:nvSpPr>
        <p:spPr>
          <a:xfrm>
            <a:off x="1573560" y="2650680"/>
            <a:ext cx="267840" cy="17676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3" name="TextBox 16"/>
          <p:cNvSpPr/>
          <p:nvPr/>
        </p:nvSpPr>
        <p:spPr>
          <a:xfrm>
            <a:off x="1501560" y="2623680"/>
            <a:ext cx="39924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040"/>
              </a:lnSpc>
            </a:pPr>
            <a:r>
              <a:rPr b="0" lang="en-US" sz="710" strike="noStrike" u="none">
                <a:solidFill>
                  <a:srgbClr val="374151"/>
                </a:solidFill>
                <a:effectLst/>
                <a:uFillTx/>
                <a:latin typeface="SFMono-Regular"/>
              </a:rPr>
              <a:t>10, 11</a:t>
            </a:r>
            <a:endParaRPr b="0" lang="en-US" sz="7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Box 17"/>
          <p:cNvSpPr/>
          <p:nvPr/>
        </p:nvSpPr>
        <p:spPr>
          <a:xfrm>
            <a:off x="1918800" y="2623680"/>
            <a:ext cx="43560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040"/>
              </a:lnSpc>
            </a:pPr>
            <a:r>
              <a:rPr b="0" lang="en-US" sz="710" strike="noStrike" u="none">
                <a:solidFill>
                  <a:srgbClr val="6b7280"/>
                </a:solidFill>
                <a:effectLst/>
                <a:uFillTx/>
                <a:latin typeface="Roboto"/>
              </a:rPr>
              <a:t>Power:</a:t>
            </a:r>
            <a:endParaRPr b="0" lang="en-US" sz="7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Rounded Rectangle 18"/>
          <p:cNvSpPr/>
          <p:nvPr/>
        </p:nvSpPr>
        <p:spPr>
          <a:xfrm>
            <a:off x="2320200" y="2650680"/>
            <a:ext cx="260280" cy="176760"/>
          </a:xfrm>
          <a:prstGeom prst="roundRect">
            <a:avLst>
              <a:gd name="adj" fmla="val 33333"/>
            </a:avLst>
          </a:prstGeom>
          <a:solidFill>
            <a:srgbClr val="fef2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6" name="TextBox 19"/>
          <p:cNvSpPr/>
          <p:nvPr/>
        </p:nvSpPr>
        <p:spPr>
          <a:xfrm>
            <a:off x="2320200" y="2623680"/>
            <a:ext cx="25164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040"/>
              </a:lnSpc>
            </a:pPr>
            <a:r>
              <a:rPr b="0" lang="en-US" sz="710" strike="noStrike" u="none">
                <a:solidFill>
                  <a:srgbClr val="374151"/>
                </a:solidFill>
                <a:effectLst/>
                <a:uFillTx/>
                <a:latin typeface="SFMono-Regular"/>
              </a:rPr>
              <a:t>5V</a:t>
            </a:r>
            <a:endParaRPr b="0" lang="en-US" sz="7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Rounded Rectangle 20"/>
          <p:cNvSpPr/>
          <p:nvPr/>
        </p:nvSpPr>
        <p:spPr>
          <a:xfrm>
            <a:off x="2655000" y="2650680"/>
            <a:ext cx="336240" cy="176760"/>
          </a:xfrm>
          <a:prstGeom prst="roundRect">
            <a:avLst>
              <a:gd name="adj" fmla="val 33333"/>
            </a:avLst>
          </a:prstGeom>
          <a:solidFill>
            <a:srgbClr val="f3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8" name="TextBox 21"/>
          <p:cNvSpPr/>
          <p:nvPr/>
        </p:nvSpPr>
        <p:spPr>
          <a:xfrm>
            <a:off x="2655000" y="2623680"/>
            <a:ext cx="34560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040"/>
              </a:lnSpc>
            </a:pPr>
            <a:r>
              <a:rPr b="0" lang="en-US" sz="710" strike="noStrike" u="none">
                <a:solidFill>
                  <a:srgbClr val="374151"/>
                </a:solidFill>
                <a:effectLst/>
                <a:uFillTx/>
                <a:latin typeface="SFMono-Regular"/>
              </a:rPr>
              <a:t>GND</a:t>
            </a:r>
            <a:endParaRPr b="0" lang="en-US" sz="7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Rounded Rectangle 22"/>
          <p:cNvSpPr/>
          <p:nvPr/>
        </p:nvSpPr>
        <p:spPr>
          <a:xfrm>
            <a:off x="674280" y="4037400"/>
            <a:ext cx="5011920" cy="890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20" name="Picture 23" descr="image.png"/>
          <p:cNvPicPr/>
          <p:nvPr/>
        </p:nvPicPr>
        <p:blipFill>
          <a:blip r:embed="rId3"/>
          <a:stretch/>
        </p:blipFill>
        <p:spPr>
          <a:xfrm>
            <a:off x="812880" y="4279680"/>
            <a:ext cx="270720" cy="14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1" name="TextBox 24"/>
          <p:cNvSpPr/>
          <p:nvPr/>
        </p:nvSpPr>
        <p:spPr>
          <a:xfrm>
            <a:off x="1196280" y="4090680"/>
            <a:ext cx="201168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IR Module (Infrared Sensor)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Box 25"/>
          <p:cNvSpPr/>
          <p:nvPr/>
        </p:nvSpPr>
        <p:spPr>
          <a:xfrm>
            <a:off x="1196280" y="4335120"/>
            <a:ext cx="1503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  <a:spcBef>
                <a:spcPts val="261"/>
              </a:spcBef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Medicine Detection System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Rounded Rectangle 26"/>
          <p:cNvSpPr/>
          <p:nvPr/>
        </p:nvSpPr>
        <p:spPr>
          <a:xfrm>
            <a:off x="4650840" y="4158000"/>
            <a:ext cx="896760" cy="201960"/>
          </a:xfrm>
          <a:prstGeom prst="roundRect">
            <a:avLst>
              <a:gd name="adj" fmla="val 57142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4" name="TextBox 27"/>
          <p:cNvSpPr/>
          <p:nvPr/>
        </p:nvSpPr>
        <p:spPr>
          <a:xfrm>
            <a:off x="4650840" y="4123440"/>
            <a:ext cx="82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1" lang="en-US" sz="839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Digital Input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Box 28"/>
          <p:cNvSpPr/>
          <p:nvPr/>
        </p:nvSpPr>
        <p:spPr>
          <a:xfrm>
            <a:off x="812880" y="4603680"/>
            <a:ext cx="52596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040"/>
              </a:lnSpc>
            </a:pPr>
            <a:r>
              <a:rPr b="0" lang="en-US" sz="710" strike="noStrike" u="none">
                <a:solidFill>
                  <a:srgbClr val="6b7280"/>
                </a:solidFill>
                <a:effectLst/>
                <a:uFillTx/>
                <a:latin typeface="Roboto"/>
              </a:rPr>
              <a:t>Data Pin:</a:t>
            </a:r>
            <a:endParaRPr b="0" lang="en-US" sz="7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Rounded Rectangle 29"/>
          <p:cNvSpPr/>
          <p:nvPr/>
        </p:nvSpPr>
        <p:spPr>
          <a:xfrm>
            <a:off x="1316160" y="4630680"/>
            <a:ext cx="271080" cy="17676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7" name="TextBox 30"/>
          <p:cNvSpPr/>
          <p:nvPr/>
        </p:nvSpPr>
        <p:spPr>
          <a:xfrm>
            <a:off x="1244160" y="4603680"/>
            <a:ext cx="38808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04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710" strike="noStrike" u="none">
                <a:solidFill>
                  <a:srgbClr val="374151"/>
                </a:solidFill>
                <a:effectLst/>
                <a:uFillTx/>
                <a:latin typeface="SFMono-Regular"/>
              </a:rPr>
              <a:t>A0,A1</a:t>
            </a:r>
            <a:endParaRPr b="0" lang="en-US" sz="7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Box 31"/>
          <p:cNvSpPr/>
          <p:nvPr/>
        </p:nvSpPr>
        <p:spPr>
          <a:xfrm>
            <a:off x="1653840" y="4603680"/>
            <a:ext cx="43560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040"/>
              </a:lnSpc>
            </a:pPr>
            <a:r>
              <a:rPr b="0" lang="en-US" sz="710" strike="noStrike" u="none">
                <a:solidFill>
                  <a:srgbClr val="6b7280"/>
                </a:solidFill>
                <a:effectLst/>
                <a:uFillTx/>
                <a:latin typeface="Roboto"/>
              </a:rPr>
              <a:t>Power:</a:t>
            </a:r>
            <a:endParaRPr b="0" lang="en-US" sz="7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Rounded Rectangle 32"/>
          <p:cNvSpPr/>
          <p:nvPr/>
        </p:nvSpPr>
        <p:spPr>
          <a:xfrm>
            <a:off x="2055600" y="4630680"/>
            <a:ext cx="270720" cy="176760"/>
          </a:xfrm>
          <a:prstGeom prst="roundRect">
            <a:avLst>
              <a:gd name="adj" fmla="val 33333"/>
            </a:avLst>
          </a:prstGeom>
          <a:solidFill>
            <a:srgbClr val="fef2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0" name="TextBox 33"/>
          <p:cNvSpPr/>
          <p:nvPr/>
        </p:nvSpPr>
        <p:spPr>
          <a:xfrm>
            <a:off x="2055600" y="4603680"/>
            <a:ext cx="25164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040"/>
              </a:lnSpc>
            </a:pPr>
            <a:r>
              <a:rPr b="0" lang="en-US" sz="710" strike="noStrike" u="none">
                <a:solidFill>
                  <a:srgbClr val="374151"/>
                </a:solidFill>
                <a:effectLst/>
                <a:uFillTx/>
                <a:latin typeface="SFMono-Regular"/>
              </a:rPr>
              <a:t>5V</a:t>
            </a:r>
            <a:endParaRPr b="0" lang="en-US" sz="7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Rounded Rectangle 34"/>
          <p:cNvSpPr/>
          <p:nvPr/>
        </p:nvSpPr>
        <p:spPr>
          <a:xfrm>
            <a:off x="2397240" y="4630680"/>
            <a:ext cx="339480" cy="176760"/>
          </a:xfrm>
          <a:prstGeom prst="roundRect">
            <a:avLst>
              <a:gd name="adj" fmla="val 33333"/>
            </a:avLst>
          </a:prstGeom>
          <a:solidFill>
            <a:srgbClr val="f3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2" name="TextBox 35"/>
          <p:cNvSpPr/>
          <p:nvPr/>
        </p:nvSpPr>
        <p:spPr>
          <a:xfrm>
            <a:off x="2397240" y="4603680"/>
            <a:ext cx="34560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040"/>
              </a:lnSpc>
            </a:pPr>
            <a:r>
              <a:rPr b="0" lang="en-US" sz="710" strike="noStrike" u="none">
                <a:solidFill>
                  <a:srgbClr val="374151"/>
                </a:solidFill>
                <a:effectLst/>
                <a:uFillTx/>
                <a:latin typeface="SFMono-Regular"/>
              </a:rPr>
              <a:t>GND</a:t>
            </a:r>
            <a:endParaRPr b="0" lang="en-US" sz="7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Rounded Rectangle 36"/>
          <p:cNvSpPr/>
          <p:nvPr/>
        </p:nvSpPr>
        <p:spPr>
          <a:xfrm>
            <a:off x="666720" y="3067920"/>
            <a:ext cx="5011920" cy="890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34" name="Picture 37" descr="image.png"/>
          <p:cNvPicPr/>
          <p:nvPr/>
        </p:nvPicPr>
        <p:blipFill>
          <a:blip r:embed="rId4"/>
          <a:stretch/>
        </p:blipFill>
        <p:spPr>
          <a:xfrm>
            <a:off x="805320" y="3294000"/>
            <a:ext cx="271080" cy="16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5" name="TextBox 38"/>
          <p:cNvSpPr/>
          <p:nvPr/>
        </p:nvSpPr>
        <p:spPr>
          <a:xfrm>
            <a:off x="1178640" y="3122640"/>
            <a:ext cx="162792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LCD Display (16x2 I2C)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Box 39"/>
          <p:cNvSpPr/>
          <p:nvPr/>
        </p:nvSpPr>
        <p:spPr>
          <a:xfrm>
            <a:off x="1178640" y="3364560"/>
            <a:ext cx="124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  <a:spcBef>
                <a:spcPts val="261"/>
              </a:spcBef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User Interface Output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Rounded Rectangle 40"/>
          <p:cNvSpPr/>
          <p:nvPr/>
        </p:nvSpPr>
        <p:spPr>
          <a:xfrm>
            <a:off x="4887000" y="3188880"/>
            <a:ext cx="653040" cy="204120"/>
          </a:xfrm>
          <a:prstGeom prst="roundRect">
            <a:avLst>
              <a:gd name="adj" fmla="val 57142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8" name="TextBox 41"/>
          <p:cNvSpPr/>
          <p:nvPr/>
        </p:nvSpPr>
        <p:spPr>
          <a:xfrm>
            <a:off x="4887000" y="3155400"/>
            <a:ext cx="539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1" lang="en-US" sz="839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I2C Bus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Box 42"/>
          <p:cNvSpPr/>
          <p:nvPr/>
        </p:nvSpPr>
        <p:spPr>
          <a:xfrm>
            <a:off x="757800" y="3634920"/>
            <a:ext cx="3409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040"/>
              </a:lnSpc>
            </a:pPr>
            <a:r>
              <a:rPr b="0" lang="en-US" sz="710" strike="noStrike" u="none">
                <a:solidFill>
                  <a:srgbClr val="6b7280"/>
                </a:solidFill>
                <a:effectLst/>
                <a:uFillTx/>
                <a:latin typeface="Roboto"/>
              </a:rPr>
              <a:t>SDA:</a:t>
            </a:r>
            <a:endParaRPr b="0" lang="en-US" sz="7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Rounded Rectangle 43"/>
          <p:cNvSpPr/>
          <p:nvPr/>
        </p:nvSpPr>
        <p:spPr>
          <a:xfrm>
            <a:off x="1115640" y="3663360"/>
            <a:ext cx="259560" cy="174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1" name="TextBox 44"/>
          <p:cNvSpPr/>
          <p:nvPr/>
        </p:nvSpPr>
        <p:spPr>
          <a:xfrm>
            <a:off x="1115640" y="3634920"/>
            <a:ext cx="25488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040"/>
              </a:lnSpc>
            </a:pPr>
            <a:r>
              <a:rPr b="0" lang="en-US" sz="710" strike="noStrike" u="none">
                <a:solidFill>
                  <a:srgbClr val="374151"/>
                </a:solidFill>
                <a:effectLst/>
                <a:uFillTx/>
                <a:latin typeface="SFMono-Regular"/>
              </a:rPr>
              <a:t>A7</a:t>
            </a:r>
            <a:endParaRPr b="0" lang="en-US" sz="7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Box 45"/>
          <p:cNvSpPr/>
          <p:nvPr/>
        </p:nvSpPr>
        <p:spPr>
          <a:xfrm>
            <a:off x="1376280" y="3634920"/>
            <a:ext cx="32364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040"/>
              </a:lnSpc>
            </a:pPr>
            <a:r>
              <a:rPr b="0" lang="en-US" sz="710" strike="noStrike" u="none">
                <a:solidFill>
                  <a:srgbClr val="6b7280"/>
                </a:solidFill>
                <a:effectLst/>
                <a:uFillTx/>
                <a:latin typeface="Roboto"/>
              </a:rPr>
              <a:t>SCL:</a:t>
            </a:r>
            <a:endParaRPr b="0" lang="en-US" sz="7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Rounded Rectangle 46"/>
          <p:cNvSpPr/>
          <p:nvPr/>
        </p:nvSpPr>
        <p:spPr>
          <a:xfrm>
            <a:off x="1741680" y="3663360"/>
            <a:ext cx="257400" cy="174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4" name="TextBox 47"/>
          <p:cNvSpPr/>
          <p:nvPr/>
        </p:nvSpPr>
        <p:spPr>
          <a:xfrm>
            <a:off x="1741680" y="3634920"/>
            <a:ext cx="25488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040"/>
              </a:lnSpc>
            </a:pPr>
            <a:r>
              <a:rPr b="0" lang="en-US" sz="710" strike="noStrike" u="none">
                <a:solidFill>
                  <a:srgbClr val="374151"/>
                </a:solidFill>
                <a:effectLst/>
                <a:uFillTx/>
                <a:latin typeface="SFMono-Regular"/>
              </a:rPr>
              <a:t>A6</a:t>
            </a:r>
            <a:endParaRPr b="0" lang="en-US" sz="7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Box 48"/>
          <p:cNvSpPr/>
          <p:nvPr/>
        </p:nvSpPr>
        <p:spPr>
          <a:xfrm>
            <a:off x="2086200" y="3634920"/>
            <a:ext cx="43560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040"/>
              </a:lnSpc>
            </a:pPr>
            <a:r>
              <a:rPr b="0" lang="en-US" sz="710" strike="noStrike" u="none">
                <a:solidFill>
                  <a:srgbClr val="6b7280"/>
                </a:solidFill>
                <a:effectLst/>
                <a:uFillTx/>
                <a:latin typeface="Roboto"/>
              </a:rPr>
              <a:t>Power:</a:t>
            </a:r>
            <a:endParaRPr b="0" lang="en-US" sz="7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Rounded Rectangle 49"/>
          <p:cNvSpPr/>
          <p:nvPr/>
        </p:nvSpPr>
        <p:spPr>
          <a:xfrm>
            <a:off x="2478240" y="3663360"/>
            <a:ext cx="270720" cy="174600"/>
          </a:xfrm>
          <a:prstGeom prst="roundRect">
            <a:avLst>
              <a:gd name="adj" fmla="val 33333"/>
            </a:avLst>
          </a:prstGeom>
          <a:solidFill>
            <a:srgbClr val="fef2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7" name="TextBox 50"/>
          <p:cNvSpPr/>
          <p:nvPr/>
        </p:nvSpPr>
        <p:spPr>
          <a:xfrm>
            <a:off x="2478240" y="3634920"/>
            <a:ext cx="25164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040"/>
              </a:lnSpc>
            </a:pPr>
            <a:r>
              <a:rPr b="0" lang="en-US" sz="710" strike="noStrike" u="none">
                <a:solidFill>
                  <a:srgbClr val="374151"/>
                </a:solidFill>
                <a:effectLst/>
                <a:uFillTx/>
                <a:latin typeface="SFMono-Regular"/>
              </a:rPr>
              <a:t>5V</a:t>
            </a:r>
            <a:endParaRPr b="0" lang="en-US" sz="7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Rounded Rectangle 51"/>
          <p:cNvSpPr/>
          <p:nvPr/>
        </p:nvSpPr>
        <p:spPr>
          <a:xfrm>
            <a:off x="674280" y="5047920"/>
            <a:ext cx="5011920" cy="890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49" name="Picture 52" descr="image.png"/>
          <p:cNvPicPr/>
          <p:nvPr/>
        </p:nvPicPr>
        <p:blipFill>
          <a:blip r:embed="rId5"/>
          <a:stretch/>
        </p:blipFill>
        <p:spPr>
          <a:xfrm>
            <a:off x="812880" y="5286600"/>
            <a:ext cx="270720" cy="14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0" name="TextBox 53"/>
          <p:cNvSpPr/>
          <p:nvPr/>
        </p:nvSpPr>
        <p:spPr>
          <a:xfrm>
            <a:off x="1196280" y="5102640"/>
            <a:ext cx="139860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4x4 Matrix Keypad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Box 54"/>
          <p:cNvSpPr/>
          <p:nvPr/>
        </p:nvSpPr>
        <p:spPr>
          <a:xfrm>
            <a:off x="1196280" y="5344560"/>
            <a:ext cx="1036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  <a:spcBef>
                <a:spcPts val="261"/>
              </a:spcBef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User Input Device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Rounded Rectangle 55"/>
          <p:cNvSpPr/>
          <p:nvPr/>
        </p:nvSpPr>
        <p:spPr>
          <a:xfrm>
            <a:off x="4590360" y="5168880"/>
            <a:ext cx="956880" cy="204120"/>
          </a:xfrm>
          <a:prstGeom prst="roundRect">
            <a:avLst>
              <a:gd name="adj" fmla="val 57142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3" name="TextBox 56"/>
          <p:cNvSpPr/>
          <p:nvPr/>
        </p:nvSpPr>
        <p:spPr>
          <a:xfrm>
            <a:off x="4590360" y="5135400"/>
            <a:ext cx="840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1" lang="en-US" sz="839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8 Digital Pins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Rounded Rectangle 58"/>
          <p:cNvSpPr/>
          <p:nvPr/>
        </p:nvSpPr>
        <p:spPr>
          <a:xfrm>
            <a:off x="1177200" y="5643360"/>
            <a:ext cx="456120" cy="174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5" name="TextBox 59"/>
          <p:cNvSpPr/>
          <p:nvPr/>
        </p:nvSpPr>
        <p:spPr>
          <a:xfrm>
            <a:off x="1177200" y="5614920"/>
            <a:ext cx="4093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040"/>
              </a:lnSpc>
            </a:pPr>
            <a:r>
              <a:rPr b="0" lang="en-US" sz="710" strike="noStrike" u="none">
                <a:solidFill>
                  <a:srgbClr val="374151"/>
                </a:solidFill>
                <a:effectLst/>
                <a:uFillTx/>
                <a:latin typeface="SFMono-Regular"/>
              </a:rPr>
              <a:t>D2-D9</a:t>
            </a:r>
            <a:endParaRPr b="0" lang="en-US" sz="7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Rounded Rectangle 63"/>
          <p:cNvSpPr/>
          <p:nvPr/>
        </p:nvSpPr>
        <p:spPr>
          <a:xfrm>
            <a:off x="666720" y="6018480"/>
            <a:ext cx="3152880" cy="62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57" name="Picture 64" descr="image.png"/>
          <p:cNvPicPr/>
          <p:nvPr/>
        </p:nvPicPr>
        <p:blipFill>
          <a:blip r:embed="rId6"/>
          <a:stretch/>
        </p:blipFill>
        <p:spPr>
          <a:xfrm>
            <a:off x="797040" y="6165360"/>
            <a:ext cx="205560" cy="11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8" name="TextBox 65"/>
          <p:cNvSpPr/>
          <p:nvPr/>
        </p:nvSpPr>
        <p:spPr>
          <a:xfrm>
            <a:off x="1080000" y="6072840"/>
            <a:ext cx="102564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1" lang="en-US" sz="96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ESP-32 Module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Box 66"/>
          <p:cNvSpPr/>
          <p:nvPr/>
        </p:nvSpPr>
        <p:spPr>
          <a:xfrm>
            <a:off x="685800" y="6339600"/>
            <a:ext cx="40428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040"/>
              </a:lnSpc>
            </a:pPr>
            <a:r>
              <a:rPr b="0" lang="en-US" sz="710" strike="noStrike" u="none">
                <a:solidFill>
                  <a:srgbClr val="6b7280"/>
                </a:solidFill>
                <a:effectLst/>
                <a:uFillTx/>
                <a:latin typeface="Roboto"/>
              </a:rPr>
              <a:t>Serial:</a:t>
            </a:r>
            <a:endParaRPr b="0" lang="en-US" sz="7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Rounded Rectangle 67"/>
          <p:cNvSpPr/>
          <p:nvPr/>
        </p:nvSpPr>
        <p:spPr>
          <a:xfrm>
            <a:off x="1148400" y="6380280"/>
            <a:ext cx="446040" cy="15552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1" name="TextBox 68"/>
          <p:cNvSpPr/>
          <p:nvPr/>
        </p:nvSpPr>
        <p:spPr>
          <a:xfrm>
            <a:off x="1148400" y="6339240"/>
            <a:ext cx="39096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040"/>
              </a:lnSpc>
            </a:pPr>
            <a:r>
              <a:rPr b="0" lang="en-US" sz="710" strike="noStrike" u="none">
                <a:solidFill>
                  <a:srgbClr val="374151"/>
                </a:solidFill>
                <a:effectLst/>
                <a:uFillTx/>
                <a:latin typeface="SFMono-Regular"/>
              </a:rPr>
              <a:t>TX/RX</a:t>
            </a:r>
            <a:endParaRPr b="0" lang="en-US" sz="7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Rounded Rectangle 69"/>
          <p:cNvSpPr/>
          <p:nvPr/>
        </p:nvSpPr>
        <p:spPr>
          <a:xfrm>
            <a:off x="3962160" y="6018480"/>
            <a:ext cx="3146040" cy="62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63" name="Picture 70" descr="image.png"/>
          <p:cNvPicPr/>
          <p:nvPr/>
        </p:nvPicPr>
        <p:blipFill>
          <a:blip r:embed="rId7"/>
          <a:stretch/>
        </p:blipFill>
        <p:spPr>
          <a:xfrm>
            <a:off x="4092840" y="6159600"/>
            <a:ext cx="205560" cy="13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4" name="TextBox 71"/>
          <p:cNvSpPr/>
          <p:nvPr/>
        </p:nvSpPr>
        <p:spPr>
          <a:xfrm>
            <a:off x="4375440" y="6072840"/>
            <a:ext cx="55476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1" lang="en-US" sz="96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Buzzer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Box 72"/>
          <p:cNvSpPr/>
          <p:nvPr/>
        </p:nvSpPr>
        <p:spPr>
          <a:xfrm>
            <a:off x="3971880" y="6339600"/>
            <a:ext cx="30348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040"/>
              </a:lnSpc>
            </a:pPr>
            <a:r>
              <a:rPr b="0" lang="en-US" sz="710" strike="noStrike" u="none">
                <a:solidFill>
                  <a:srgbClr val="6b7280"/>
                </a:solidFill>
                <a:effectLst/>
                <a:uFillTx/>
                <a:latin typeface="Roboto"/>
              </a:rPr>
              <a:t>Pin:</a:t>
            </a:r>
            <a:endParaRPr b="0" lang="en-US" sz="7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Rounded Rectangle 73"/>
          <p:cNvSpPr/>
          <p:nvPr/>
        </p:nvSpPr>
        <p:spPr>
          <a:xfrm>
            <a:off x="4337280" y="6380280"/>
            <a:ext cx="246600" cy="15552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7" name="TextBox 74"/>
          <p:cNvSpPr/>
          <p:nvPr/>
        </p:nvSpPr>
        <p:spPr>
          <a:xfrm>
            <a:off x="4301280" y="6339240"/>
            <a:ext cx="31464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040"/>
              </a:lnSpc>
            </a:pPr>
            <a:r>
              <a:rPr b="0" lang="en-US" sz="710" strike="noStrike" u="none">
                <a:solidFill>
                  <a:srgbClr val="374151"/>
                </a:solidFill>
                <a:effectLst/>
                <a:uFillTx/>
                <a:latin typeface="SFMono-Regular"/>
              </a:rPr>
              <a:t>D12</a:t>
            </a:r>
            <a:endParaRPr b="0" lang="en-US" sz="7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Rounded Rectangle 75"/>
          <p:cNvSpPr/>
          <p:nvPr/>
        </p:nvSpPr>
        <p:spPr>
          <a:xfrm>
            <a:off x="7260480" y="6018480"/>
            <a:ext cx="3152880" cy="621000"/>
          </a:xfrm>
          <a:prstGeom prst="roundRect">
            <a:avLst>
              <a:gd name="adj" fmla="val 25000"/>
            </a:avLst>
          </a:prstGeom>
          <a:gradFill rotWithShape="0">
            <a:gsLst>
              <a:gs pos="0">
                <a:srgbClr val="eff6ff"/>
              </a:gs>
              <a:gs pos="100000">
                <a:srgbClr val="dbeafe"/>
              </a:gs>
            </a:gsLst>
            <a:lin ang="8100000"/>
          </a:gradFill>
          <a:ln w="16510">
            <a:solidFill>
              <a:srgbClr val="bfdb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69" name="Picture 76" descr="image.png"/>
          <p:cNvPicPr/>
          <p:nvPr/>
        </p:nvPicPr>
        <p:blipFill>
          <a:blip r:embed="rId8"/>
          <a:stretch/>
        </p:blipFill>
        <p:spPr>
          <a:xfrm>
            <a:off x="7416720" y="6178680"/>
            <a:ext cx="205200" cy="11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0" name="TextBox 77"/>
          <p:cNvSpPr/>
          <p:nvPr/>
        </p:nvSpPr>
        <p:spPr>
          <a:xfrm>
            <a:off x="7682400" y="6086160"/>
            <a:ext cx="132948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1" lang="en-US" sz="96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Custom PCB Design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Box 78"/>
          <p:cNvSpPr/>
          <p:nvPr/>
        </p:nvSpPr>
        <p:spPr>
          <a:xfrm>
            <a:off x="7416720" y="6325920"/>
            <a:ext cx="201276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040"/>
              </a:lnSpc>
            </a:pPr>
            <a:r>
              <a:rPr b="0" lang="en-US" sz="710" strike="noStrike" u="none">
                <a:solidFill>
                  <a:srgbClr val="374151"/>
                </a:solidFill>
                <a:effectLst/>
                <a:uFillTx/>
                <a:latin typeface="Roboto"/>
              </a:rPr>
              <a:t>Compact layout with integrated connections</a:t>
            </a:r>
            <a:endParaRPr b="0" lang="en-US" sz="7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2" name="Picture 649" descr=""/>
          <p:cNvPicPr/>
          <p:nvPr/>
        </p:nvPicPr>
        <p:blipFill>
          <a:blip r:embed="rId9"/>
          <a:stretch/>
        </p:blipFill>
        <p:spPr>
          <a:xfrm>
            <a:off x="6629400" y="2286000"/>
            <a:ext cx="4114440" cy="3385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3" name="PlaceHolder 1"/>
          <p:cNvSpPr>
            <a:spLocks noGrp="1"/>
          </p:cNvSpPr>
          <p:nvPr>
            <p:ph type="sldNum" idx="44"/>
          </p:nvPr>
        </p:nvSpPr>
        <p:spPr>
          <a:xfrm>
            <a:off x="10059480" y="64861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744245A-FF32-4FB1-98E1-5C8E99F3BEE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9fafb"/>
            </a:gs>
            <a:gs pos="100000">
              <a:srgbClr val="eff6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Rectangle 1"/>
          <p:cNvSpPr/>
          <p:nvPr/>
        </p:nvSpPr>
        <p:spPr>
          <a:xfrm>
            <a:off x="0" y="0"/>
            <a:ext cx="12190320" cy="951120"/>
          </a:xfrm>
          <a:prstGeom prst="rect">
            <a:avLst/>
          </a:prstGeom>
          <a:solidFill>
            <a:srgbClr val="197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5" name="Rounded Rectangle 2"/>
          <p:cNvSpPr/>
          <p:nvPr/>
        </p:nvSpPr>
        <p:spPr>
          <a:xfrm>
            <a:off x="666720" y="247680"/>
            <a:ext cx="55800" cy="455760"/>
          </a:xfrm>
          <a:prstGeom prst="roundRect">
            <a:avLst>
              <a:gd name="adj" fmla="val 333300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6" name="TextBox 3"/>
          <p:cNvSpPr/>
          <p:nvPr/>
        </p:nvSpPr>
        <p:spPr>
          <a:xfrm>
            <a:off x="876240" y="190440"/>
            <a:ext cx="6751440" cy="57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3900"/>
              </a:lnSpc>
            </a:pPr>
            <a:r>
              <a:rPr b="1" lang="en-US" sz="2390" strike="noStrike" u="none">
                <a:solidFill>
                  <a:srgbClr val="ffffff"/>
                </a:solidFill>
                <a:effectLst/>
                <a:uFillTx/>
                <a:latin typeface="Montserrat"/>
              </a:rPr>
              <a:t>Software Design - Algorithm Flow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Rounded Rectangle 4"/>
          <p:cNvSpPr/>
          <p:nvPr/>
        </p:nvSpPr>
        <p:spPr>
          <a:xfrm>
            <a:off x="666720" y="1181160"/>
            <a:ext cx="3494160" cy="98928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8" name="Rounded Rectangle 5"/>
          <p:cNvSpPr/>
          <p:nvPr/>
        </p:nvSpPr>
        <p:spPr>
          <a:xfrm>
            <a:off x="819000" y="1333440"/>
            <a:ext cx="303480" cy="303480"/>
          </a:xfrm>
          <a:prstGeom prst="roundRect">
            <a:avLst>
              <a:gd name="adj" fmla="val 62493750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9" name="TextBox 6"/>
          <p:cNvSpPr/>
          <p:nvPr/>
        </p:nvSpPr>
        <p:spPr>
          <a:xfrm>
            <a:off x="819000" y="1333440"/>
            <a:ext cx="30348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1" lang="en-US" sz="960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1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Box 7"/>
          <p:cNvSpPr/>
          <p:nvPr/>
        </p:nvSpPr>
        <p:spPr>
          <a:xfrm>
            <a:off x="1238040" y="1333440"/>
            <a:ext cx="277020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  <a:spcAft>
                <a:spcPts val="261"/>
              </a:spcAft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System Initialization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Box 8"/>
          <p:cNvSpPr/>
          <p:nvPr/>
        </p:nvSpPr>
        <p:spPr>
          <a:xfrm>
            <a:off x="1238040" y="1638360"/>
            <a:ext cx="277020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Setup peripherals, LCD, keypad, servo, IR sensor, RTC module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Rounded Rectangle 9"/>
          <p:cNvSpPr/>
          <p:nvPr/>
        </p:nvSpPr>
        <p:spPr>
          <a:xfrm>
            <a:off x="4352760" y="1181160"/>
            <a:ext cx="3494160" cy="98928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3" name="Rounded Rectangle 10"/>
          <p:cNvSpPr/>
          <p:nvPr/>
        </p:nvSpPr>
        <p:spPr>
          <a:xfrm>
            <a:off x="4505040" y="1333440"/>
            <a:ext cx="303480" cy="303480"/>
          </a:xfrm>
          <a:prstGeom prst="roundRect">
            <a:avLst>
              <a:gd name="adj" fmla="val 62493750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4" name="TextBox 11"/>
          <p:cNvSpPr/>
          <p:nvPr/>
        </p:nvSpPr>
        <p:spPr>
          <a:xfrm>
            <a:off x="4505040" y="1333440"/>
            <a:ext cx="30348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1" lang="en-US" sz="960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2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Box 12"/>
          <p:cNvSpPr/>
          <p:nvPr/>
        </p:nvSpPr>
        <p:spPr>
          <a:xfrm>
            <a:off x="4924440" y="1333440"/>
            <a:ext cx="277020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  <a:spcAft>
                <a:spcPts val="261"/>
              </a:spcAft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Read Current Time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Box 13"/>
          <p:cNvSpPr/>
          <p:nvPr/>
        </p:nvSpPr>
        <p:spPr>
          <a:xfrm>
            <a:off x="4924440" y="1638360"/>
            <a:ext cx="277020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Get timestamp from Real-Time Clock module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Rounded Rectangle 14"/>
          <p:cNvSpPr/>
          <p:nvPr/>
        </p:nvSpPr>
        <p:spPr>
          <a:xfrm>
            <a:off x="8029440" y="1181160"/>
            <a:ext cx="3494160" cy="98928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8" name="Rounded Rectangle 15"/>
          <p:cNvSpPr/>
          <p:nvPr/>
        </p:nvSpPr>
        <p:spPr>
          <a:xfrm>
            <a:off x="8181720" y="1333440"/>
            <a:ext cx="303480" cy="303480"/>
          </a:xfrm>
          <a:prstGeom prst="roundRect">
            <a:avLst>
              <a:gd name="adj" fmla="val 62493750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9" name="TextBox 16"/>
          <p:cNvSpPr/>
          <p:nvPr/>
        </p:nvSpPr>
        <p:spPr>
          <a:xfrm>
            <a:off x="8181720" y="1333440"/>
            <a:ext cx="30348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1" lang="en-US" sz="960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3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Box 17"/>
          <p:cNvSpPr/>
          <p:nvPr/>
        </p:nvSpPr>
        <p:spPr>
          <a:xfrm>
            <a:off x="8600760" y="1333440"/>
            <a:ext cx="277020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  <a:spcAft>
                <a:spcPts val="261"/>
              </a:spcAft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Check Dose Schedule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Box 18"/>
          <p:cNvSpPr/>
          <p:nvPr/>
        </p:nvSpPr>
        <p:spPr>
          <a:xfrm>
            <a:off x="8600760" y="1638360"/>
            <a:ext cx="277020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Compare current time with programmed medication times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Rounded Rectangle 19"/>
          <p:cNvSpPr/>
          <p:nvPr/>
        </p:nvSpPr>
        <p:spPr>
          <a:xfrm>
            <a:off x="666720" y="2400480"/>
            <a:ext cx="3494160" cy="1027440"/>
          </a:xfrm>
          <a:prstGeom prst="roundRect">
            <a:avLst>
              <a:gd name="adj" fmla="val 22222"/>
            </a:avLst>
          </a:prstGeom>
          <a:gradFill rotWithShape="0">
            <a:gsLst>
              <a:gs pos="0">
                <a:srgbClr val="fff9c4"/>
              </a:gs>
              <a:gs pos="100000">
                <a:srgbClr val="fff59d"/>
              </a:gs>
            </a:gsLst>
            <a:lin ang="8100000"/>
          </a:gradFill>
          <a:ln w="16510">
            <a:solidFill>
              <a:srgbClr val="fbc0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93" name="Picture 20" descr="image.png"/>
          <p:cNvPicPr/>
          <p:nvPr/>
        </p:nvPicPr>
        <p:blipFill>
          <a:blip r:embed="rId1"/>
          <a:stretch/>
        </p:blipFill>
        <p:spPr>
          <a:xfrm>
            <a:off x="838080" y="2792160"/>
            <a:ext cx="284400" cy="24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4" name="TextBox 21"/>
          <p:cNvSpPr/>
          <p:nvPr/>
        </p:nvSpPr>
        <p:spPr>
          <a:xfrm>
            <a:off x="1238040" y="2571840"/>
            <a:ext cx="27511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  <a:spcAft>
                <a:spcPts val="261"/>
              </a:spcAft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Time Matched?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Box 22"/>
          <p:cNvSpPr/>
          <p:nvPr/>
        </p:nvSpPr>
        <p:spPr>
          <a:xfrm>
            <a:off x="1238040" y="2876400"/>
            <a:ext cx="275112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374151"/>
                </a:solidFill>
                <a:effectLst/>
                <a:uFillTx/>
                <a:latin typeface="Roboto"/>
              </a:rPr>
              <a:t>If NO → Wait &amp; repeat | If YES → Continue to step 5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Rounded Rectangle 23"/>
          <p:cNvSpPr/>
          <p:nvPr/>
        </p:nvSpPr>
        <p:spPr>
          <a:xfrm>
            <a:off x="4352760" y="2400480"/>
            <a:ext cx="3494160" cy="102744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7" name="Rounded Rectangle 24"/>
          <p:cNvSpPr/>
          <p:nvPr/>
        </p:nvSpPr>
        <p:spPr>
          <a:xfrm>
            <a:off x="4505040" y="2552760"/>
            <a:ext cx="303480" cy="303480"/>
          </a:xfrm>
          <a:prstGeom prst="roundRect">
            <a:avLst>
              <a:gd name="adj" fmla="val 62493750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8" name="TextBox 25"/>
          <p:cNvSpPr/>
          <p:nvPr/>
        </p:nvSpPr>
        <p:spPr>
          <a:xfrm>
            <a:off x="4505040" y="2552760"/>
            <a:ext cx="30348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1" lang="en-US" sz="960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5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Box 26"/>
          <p:cNvSpPr/>
          <p:nvPr/>
        </p:nvSpPr>
        <p:spPr>
          <a:xfrm>
            <a:off x="4924440" y="2552760"/>
            <a:ext cx="277020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  <a:spcAft>
                <a:spcPts val="261"/>
              </a:spcAft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Dispense Medicine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Box 27"/>
          <p:cNvSpPr/>
          <p:nvPr/>
        </p:nvSpPr>
        <p:spPr>
          <a:xfrm>
            <a:off x="4924440" y="2857680"/>
            <a:ext cx="277020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Activate servo motor to release medication dose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Rounded Rectangle 28"/>
          <p:cNvSpPr/>
          <p:nvPr/>
        </p:nvSpPr>
        <p:spPr>
          <a:xfrm>
            <a:off x="8029440" y="2400480"/>
            <a:ext cx="3494160" cy="102744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2" name="Rounded Rectangle 29"/>
          <p:cNvSpPr/>
          <p:nvPr/>
        </p:nvSpPr>
        <p:spPr>
          <a:xfrm>
            <a:off x="8181720" y="2552760"/>
            <a:ext cx="303480" cy="303480"/>
          </a:xfrm>
          <a:prstGeom prst="roundRect">
            <a:avLst>
              <a:gd name="adj" fmla="val 62493750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3" name="TextBox 30"/>
          <p:cNvSpPr/>
          <p:nvPr/>
        </p:nvSpPr>
        <p:spPr>
          <a:xfrm>
            <a:off x="8181720" y="2552760"/>
            <a:ext cx="30348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1" lang="en-US" sz="960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6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Box 31"/>
          <p:cNvSpPr/>
          <p:nvPr/>
        </p:nvSpPr>
        <p:spPr>
          <a:xfrm>
            <a:off x="8600760" y="2552760"/>
            <a:ext cx="277020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  <a:spcAft>
                <a:spcPts val="261"/>
              </a:spcAft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Trigger Alerts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Box 32"/>
          <p:cNvSpPr/>
          <p:nvPr/>
        </p:nvSpPr>
        <p:spPr>
          <a:xfrm>
            <a:off x="8600760" y="2857680"/>
            <a:ext cx="277020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Display message on LCD, activate buzzer for user notification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Rounded Rectangle 33"/>
          <p:cNvSpPr/>
          <p:nvPr/>
        </p:nvSpPr>
        <p:spPr>
          <a:xfrm>
            <a:off x="666720" y="3657600"/>
            <a:ext cx="3494160" cy="102744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7" name="Rounded Rectangle 34"/>
          <p:cNvSpPr/>
          <p:nvPr/>
        </p:nvSpPr>
        <p:spPr>
          <a:xfrm>
            <a:off x="819000" y="3809880"/>
            <a:ext cx="303480" cy="303480"/>
          </a:xfrm>
          <a:prstGeom prst="roundRect">
            <a:avLst>
              <a:gd name="adj" fmla="val 62493750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8" name="TextBox 35"/>
          <p:cNvSpPr/>
          <p:nvPr/>
        </p:nvSpPr>
        <p:spPr>
          <a:xfrm>
            <a:off x="819000" y="3809880"/>
            <a:ext cx="30348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1" lang="en-US" sz="960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7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Box 36"/>
          <p:cNvSpPr/>
          <p:nvPr/>
        </p:nvSpPr>
        <p:spPr>
          <a:xfrm>
            <a:off x="1238040" y="3809880"/>
            <a:ext cx="277020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  <a:spcAft>
                <a:spcPts val="261"/>
              </a:spcAft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Monitor Collection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Box 37"/>
          <p:cNvSpPr/>
          <p:nvPr/>
        </p:nvSpPr>
        <p:spPr>
          <a:xfrm>
            <a:off x="1238040" y="4114800"/>
            <a:ext cx="277020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Wait for user to collect medicine, start timeout counter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Rounded Rectangle 38"/>
          <p:cNvSpPr/>
          <p:nvPr/>
        </p:nvSpPr>
        <p:spPr>
          <a:xfrm>
            <a:off x="4352760" y="3657600"/>
            <a:ext cx="3494160" cy="1027440"/>
          </a:xfrm>
          <a:prstGeom prst="roundRect">
            <a:avLst>
              <a:gd name="adj" fmla="val 22222"/>
            </a:avLst>
          </a:prstGeom>
          <a:gradFill rotWithShape="0">
            <a:gsLst>
              <a:gs pos="0">
                <a:srgbClr val="fff9c4"/>
              </a:gs>
              <a:gs pos="100000">
                <a:srgbClr val="fff59d"/>
              </a:gs>
            </a:gsLst>
            <a:lin ang="8100000"/>
          </a:gradFill>
          <a:ln w="16510">
            <a:solidFill>
              <a:srgbClr val="fbc0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12" name="Picture 39" descr="image.png"/>
          <p:cNvPicPr/>
          <p:nvPr/>
        </p:nvPicPr>
        <p:blipFill>
          <a:blip r:embed="rId2"/>
          <a:stretch/>
        </p:blipFill>
        <p:spPr>
          <a:xfrm>
            <a:off x="4524120" y="3986280"/>
            <a:ext cx="284400" cy="17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3" name="TextBox 40"/>
          <p:cNvSpPr/>
          <p:nvPr/>
        </p:nvSpPr>
        <p:spPr>
          <a:xfrm>
            <a:off x="4924440" y="3828960"/>
            <a:ext cx="27511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  <a:spcAft>
                <a:spcPts val="261"/>
              </a:spcAft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IR Sensor Status?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Box 41"/>
          <p:cNvSpPr/>
          <p:nvPr/>
        </p:nvSpPr>
        <p:spPr>
          <a:xfrm>
            <a:off x="4924440" y="4133880"/>
            <a:ext cx="275112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374151"/>
                </a:solidFill>
                <a:effectLst/>
                <a:uFillTx/>
                <a:latin typeface="Roboto"/>
              </a:rPr>
              <a:t>Detect medicine collection via infrared sensor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Rounded Rectangle 42"/>
          <p:cNvSpPr/>
          <p:nvPr/>
        </p:nvSpPr>
        <p:spPr>
          <a:xfrm>
            <a:off x="8029440" y="3657600"/>
            <a:ext cx="3494160" cy="1027440"/>
          </a:xfrm>
          <a:prstGeom prst="roundRect">
            <a:avLst>
              <a:gd name="adj" fmla="val 22222"/>
            </a:avLst>
          </a:prstGeom>
          <a:gradFill rotWithShape="0">
            <a:gsLst>
              <a:gs pos="0">
                <a:srgbClr val="f0fdf4"/>
              </a:gs>
              <a:gs pos="100000">
                <a:srgbClr val="dcfce7"/>
              </a:gs>
            </a:gsLst>
            <a:lin ang="8100000"/>
          </a:gradFill>
          <a:ln w="16510">
            <a:solidFill>
              <a:srgbClr val="86efa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16" name="Picture 43" descr="image.png"/>
          <p:cNvPicPr/>
          <p:nvPr/>
        </p:nvPicPr>
        <p:blipFill>
          <a:blip r:embed="rId3"/>
          <a:stretch/>
        </p:blipFill>
        <p:spPr>
          <a:xfrm>
            <a:off x="8200800" y="3877920"/>
            <a:ext cx="284400" cy="24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7" name="TextBox 44"/>
          <p:cNvSpPr/>
          <p:nvPr/>
        </p:nvSpPr>
        <p:spPr>
          <a:xfrm>
            <a:off x="8600760" y="3828960"/>
            <a:ext cx="27511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  <a:spcAft>
                <a:spcPts val="261"/>
              </a:spcAft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Dose Taken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Box 45"/>
          <p:cNvSpPr/>
          <p:nvPr/>
        </p:nvSpPr>
        <p:spPr>
          <a:xfrm>
            <a:off x="8600760" y="4133880"/>
            <a:ext cx="275112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Mark as completed, update LCD, send status to ESP-32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Rounded Rectangle 46"/>
          <p:cNvSpPr/>
          <p:nvPr/>
        </p:nvSpPr>
        <p:spPr>
          <a:xfrm>
            <a:off x="666720" y="4915080"/>
            <a:ext cx="3494160" cy="1027440"/>
          </a:xfrm>
          <a:prstGeom prst="roundRect">
            <a:avLst>
              <a:gd name="adj" fmla="val 22222"/>
            </a:avLst>
          </a:prstGeom>
          <a:gradFill rotWithShape="0">
            <a:gsLst>
              <a:gs pos="0">
                <a:srgbClr val="fef2f2"/>
              </a:gs>
              <a:gs pos="100000">
                <a:srgbClr val="fee2e2"/>
              </a:gs>
            </a:gsLst>
            <a:lin ang="8100000"/>
          </a:gradFill>
          <a:ln w="16510">
            <a:solidFill>
              <a:srgbClr val="fca5a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20" name="Picture 47" descr="image.png"/>
          <p:cNvPicPr/>
          <p:nvPr/>
        </p:nvPicPr>
        <p:blipFill>
          <a:blip r:embed="rId4"/>
          <a:stretch/>
        </p:blipFill>
        <p:spPr>
          <a:xfrm>
            <a:off x="838080" y="5135400"/>
            <a:ext cx="284400" cy="24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1" name="TextBox 48"/>
          <p:cNvSpPr/>
          <p:nvPr/>
        </p:nvSpPr>
        <p:spPr>
          <a:xfrm>
            <a:off x="1238040" y="5086440"/>
            <a:ext cx="27511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  <a:spcAft>
                <a:spcPts val="261"/>
              </a:spcAft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Missed Dose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Box 49"/>
          <p:cNvSpPr/>
          <p:nvPr/>
        </p:nvSpPr>
        <p:spPr>
          <a:xfrm>
            <a:off x="1238040" y="5391000"/>
            <a:ext cx="275112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Timeout reached, alert user, send notification via ESP-32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Rounded Rectangle 50"/>
          <p:cNvSpPr/>
          <p:nvPr/>
        </p:nvSpPr>
        <p:spPr>
          <a:xfrm>
            <a:off x="4352760" y="4915080"/>
            <a:ext cx="3494160" cy="102744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4" name="Rounded Rectangle 51"/>
          <p:cNvSpPr/>
          <p:nvPr/>
        </p:nvSpPr>
        <p:spPr>
          <a:xfrm>
            <a:off x="4505040" y="5067360"/>
            <a:ext cx="303480" cy="303480"/>
          </a:xfrm>
          <a:prstGeom prst="roundRect">
            <a:avLst>
              <a:gd name="adj" fmla="val 62493750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5" name="TextBox 52"/>
          <p:cNvSpPr/>
          <p:nvPr/>
        </p:nvSpPr>
        <p:spPr>
          <a:xfrm>
            <a:off x="4505040" y="5067360"/>
            <a:ext cx="30348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1" lang="en-US" sz="960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11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Box 53"/>
          <p:cNvSpPr/>
          <p:nvPr/>
        </p:nvSpPr>
        <p:spPr>
          <a:xfrm>
            <a:off x="4924440" y="5067360"/>
            <a:ext cx="277020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  <a:spcAft>
                <a:spcPts val="261"/>
              </a:spcAft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Update Database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Box 54"/>
          <p:cNvSpPr/>
          <p:nvPr/>
        </p:nvSpPr>
        <p:spPr>
          <a:xfrm>
            <a:off x="4924440" y="5372280"/>
            <a:ext cx="277020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Log medication event, update compliance records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Rounded Rectangle 55"/>
          <p:cNvSpPr/>
          <p:nvPr/>
        </p:nvSpPr>
        <p:spPr>
          <a:xfrm>
            <a:off x="8029440" y="4915080"/>
            <a:ext cx="3494160" cy="1027440"/>
          </a:xfrm>
          <a:prstGeom prst="roundRect">
            <a:avLst>
              <a:gd name="adj" fmla="val 22222"/>
            </a:avLst>
          </a:prstGeom>
          <a:gradFill rotWithShape="0">
            <a:gsLst>
              <a:gs pos="0">
                <a:srgbClr val="dbeafe"/>
              </a:gs>
              <a:gs pos="100000">
                <a:srgbClr val="bfdbfe"/>
              </a:gs>
            </a:gsLst>
            <a:lin ang="8100000"/>
          </a:gradFill>
          <a:ln w="16510">
            <a:solidFill>
              <a:srgbClr val="93c5f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29" name="Picture 56" descr="image.png"/>
          <p:cNvPicPr/>
          <p:nvPr/>
        </p:nvPicPr>
        <p:blipFill>
          <a:blip r:embed="rId5"/>
          <a:stretch/>
        </p:blipFill>
        <p:spPr>
          <a:xfrm>
            <a:off x="8200800" y="5199840"/>
            <a:ext cx="284400" cy="26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0" name="TextBox 57"/>
          <p:cNvSpPr/>
          <p:nvPr/>
        </p:nvSpPr>
        <p:spPr>
          <a:xfrm>
            <a:off x="8600760" y="5086440"/>
            <a:ext cx="251316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  <a:spcAft>
                <a:spcPts val="261"/>
              </a:spcAft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Repeat Cycle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Box 58"/>
          <p:cNvSpPr/>
          <p:nvPr/>
        </p:nvSpPr>
        <p:spPr>
          <a:xfrm>
            <a:off x="8600760" y="5391000"/>
            <a:ext cx="25131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Return to step 2 for continuous monitoring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PlaceHolder 1"/>
          <p:cNvSpPr>
            <a:spLocks noGrp="1"/>
          </p:cNvSpPr>
          <p:nvPr>
            <p:ph type="sldNum" idx="45"/>
          </p:nvPr>
        </p:nvSpPr>
        <p:spPr>
          <a:xfrm>
            <a:off x="10058040" y="649404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DDA0E9E-DD02-4F74-8707-61A032D673A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9fafb"/>
            </a:gs>
            <a:gs pos="100000">
              <a:srgbClr val="eff6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Rectangle 1"/>
          <p:cNvSpPr/>
          <p:nvPr/>
        </p:nvSpPr>
        <p:spPr>
          <a:xfrm>
            <a:off x="0" y="0"/>
            <a:ext cx="12190320" cy="951120"/>
          </a:xfrm>
          <a:prstGeom prst="rect">
            <a:avLst/>
          </a:prstGeom>
          <a:solidFill>
            <a:srgbClr val="197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4" name="Rounded Rectangle 2"/>
          <p:cNvSpPr/>
          <p:nvPr/>
        </p:nvSpPr>
        <p:spPr>
          <a:xfrm>
            <a:off x="666720" y="247680"/>
            <a:ext cx="55800" cy="455760"/>
          </a:xfrm>
          <a:prstGeom prst="roundRect">
            <a:avLst>
              <a:gd name="adj" fmla="val 333300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5" name="TextBox 3"/>
          <p:cNvSpPr/>
          <p:nvPr/>
        </p:nvSpPr>
        <p:spPr>
          <a:xfrm>
            <a:off x="876240" y="190440"/>
            <a:ext cx="4808520" cy="57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3900"/>
              </a:lnSpc>
            </a:pPr>
            <a:r>
              <a:rPr b="1" lang="en-US" sz="2390" strike="noStrike" u="none">
                <a:solidFill>
                  <a:srgbClr val="ffffff"/>
                </a:solidFill>
                <a:effectLst/>
                <a:uFillTx/>
                <a:latin typeface="Montserrat"/>
              </a:rPr>
              <a:t>System Implementation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Rounded Rectangle 4"/>
          <p:cNvSpPr/>
          <p:nvPr/>
        </p:nvSpPr>
        <p:spPr>
          <a:xfrm>
            <a:off x="666720" y="1181160"/>
            <a:ext cx="3513240" cy="140832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7" name="Rounded Rectangle 5"/>
          <p:cNvSpPr/>
          <p:nvPr/>
        </p:nvSpPr>
        <p:spPr>
          <a:xfrm>
            <a:off x="819000" y="1333440"/>
            <a:ext cx="379440" cy="379440"/>
          </a:xfrm>
          <a:prstGeom prst="roundRect">
            <a:avLst>
              <a:gd name="adj" fmla="val 49995000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8" name="TextBox 6"/>
          <p:cNvSpPr/>
          <p:nvPr/>
        </p:nvSpPr>
        <p:spPr>
          <a:xfrm>
            <a:off x="819000" y="1333440"/>
            <a:ext cx="3794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070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1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Box 7"/>
          <p:cNvSpPr/>
          <p:nvPr/>
        </p:nvSpPr>
        <p:spPr>
          <a:xfrm>
            <a:off x="1314360" y="1333440"/>
            <a:ext cx="271296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  <a:spcAft>
                <a:spcPts val="519"/>
              </a:spcAft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PCB Fabrication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Box 8"/>
          <p:cNvSpPr/>
          <p:nvPr/>
        </p:nvSpPr>
        <p:spPr>
          <a:xfrm>
            <a:off x="1314360" y="1676520"/>
            <a:ext cx="27129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28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</a:t>
            </a:r>
            <a:r>
              <a:rPr b="0" lang="en-US" sz="111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</a:t>
            </a: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Custom PCB design layout 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1" name="Picture 9" descr="image.png"/>
          <p:cNvPicPr/>
          <p:nvPr/>
        </p:nvPicPr>
        <p:blipFill>
          <a:blip r:embed="rId1"/>
          <a:stretch/>
        </p:blipFill>
        <p:spPr>
          <a:xfrm>
            <a:off x="1314360" y="1746360"/>
            <a:ext cx="112680" cy="8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2" name="TextBox 10"/>
          <p:cNvSpPr/>
          <p:nvPr/>
        </p:nvSpPr>
        <p:spPr>
          <a:xfrm>
            <a:off x="1314360" y="1905120"/>
            <a:ext cx="27129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2880" rIns="73080" tIns="54720" bIns="54720" anchor="ctr">
            <a:spAutoFit/>
          </a:bodyPr>
          <a:p>
            <a:pPr defTabSz="457200">
              <a:lnSpc>
                <a:spcPts val="1301"/>
              </a:lnSpc>
              <a:spcBef>
                <a:spcPts val="261"/>
              </a:spcBef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</a:t>
            </a:r>
            <a:r>
              <a:rPr b="0" lang="en-US" sz="111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</a:t>
            </a: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Component mounting 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3" name="Picture 11" descr="image.png"/>
          <p:cNvPicPr/>
          <p:nvPr/>
        </p:nvPicPr>
        <p:blipFill>
          <a:blip r:embed="rId2"/>
          <a:stretch/>
        </p:blipFill>
        <p:spPr>
          <a:xfrm>
            <a:off x="1314360" y="1974960"/>
            <a:ext cx="112680" cy="8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4" name="TextBox 12"/>
          <p:cNvSpPr/>
          <p:nvPr/>
        </p:nvSpPr>
        <p:spPr>
          <a:xfrm>
            <a:off x="1314360" y="2133720"/>
            <a:ext cx="27129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2880" rIns="73080" tIns="54720" bIns="54720" anchor="ctr">
            <a:spAutoFit/>
          </a:bodyPr>
          <a:p>
            <a:pPr defTabSz="457200">
              <a:lnSpc>
                <a:spcPts val="1301"/>
              </a:lnSpc>
              <a:spcBef>
                <a:spcPts val="261"/>
              </a:spcBef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</a:t>
            </a:r>
            <a:r>
              <a:rPr b="0" lang="en-US" sz="111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</a:t>
            </a: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Soldering connections 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5" name="Picture 13" descr="image.png"/>
          <p:cNvPicPr/>
          <p:nvPr/>
        </p:nvPicPr>
        <p:blipFill>
          <a:blip r:embed="rId3"/>
          <a:stretch/>
        </p:blipFill>
        <p:spPr>
          <a:xfrm>
            <a:off x="1314360" y="2203560"/>
            <a:ext cx="112680" cy="8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6" name="Rounded Rectangle 14"/>
          <p:cNvSpPr/>
          <p:nvPr/>
        </p:nvSpPr>
        <p:spPr>
          <a:xfrm>
            <a:off x="4333680" y="1181160"/>
            <a:ext cx="3513240" cy="140832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7" name="Rounded Rectangle 15"/>
          <p:cNvSpPr/>
          <p:nvPr/>
        </p:nvSpPr>
        <p:spPr>
          <a:xfrm>
            <a:off x="4486320" y="1333440"/>
            <a:ext cx="379440" cy="379440"/>
          </a:xfrm>
          <a:prstGeom prst="roundRect">
            <a:avLst>
              <a:gd name="adj" fmla="val 49995000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8" name="TextBox 16"/>
          <p:cNvSpPr/>
          <p:nvPr/>
        </p:nvSpPr>
        <p:spPr>
          <a:xfrm>
            <a:off x="4486320" y="1333440"/>
            <a:ext cx="3794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070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2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Box 17"/>
          <p:cNvSpPr/>
          <p:nvPr/>
        </p:nvSpPr>
        <p:spPr>
          <a:xfrm>
            <a:off x="4981320" y="1333440"/>
            <a:ext cx="271296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  <a:spcAft>
                <a:spcPts val="519"/>
              </a:spcAft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Arduino Programming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Box 18"/>
          <p:cNvSpPr/>
          <p:nvPr/>
        </p:nvSpPr>
        <p:spPr>
          <a:xfrm>
            <a:off x="4981320" y="1676520"/>
            <a:ext cx="27129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28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</a:t>
            </a:r>
            <a:r>
              <a:rPr b="0" lang="en-US" sz="111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</a:t>
            </a: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Arduino IDE setup 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1" name="Picture 19" descr="image.png"/>
          <p:cNvPicPr/>
          <p:nvPr/>
        </p:nvPicPr>
        <p:blipFill>
          <a:blip r:embed="rId4"/>
          <a:stretch/>
        </p:blipFill>
        <p:spPr>
          <a:xfrm>
            <a:off x="4981320" y="1746360"/>
            <a:ext cx="112680" cy="8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2" name="TextBox 20"/>
          <p:cNvSpPr/>
          <p:nvPr/>
        </p:nvSpPr>
        <p:spPr>
          <a:xfrm>
            <a:off x="4981320" y="1905120"/>
            <a:ext cx="27129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2880" rIns="73080" tIns="54720" bIns="54720" anchor="ctr">
            <a:spAutoFit/>
          </a:bodyPr>
          <a:p>
            <a:pPr defTabSz="457200">
              <a:lnSpc>
                <a:spcPts val="1301"/>
              </a:lnSpc>
              <a:spcBef>
                <a:spcPts val="261"/>
              </a:spcBef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</a:t>
            </a:r>
            <a:r>
              <a:rPr b="0" lang="en-US" sz="111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</a:t>
            </a: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Library installation 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3" name="Picture 21" descr="image.png"/>
          <p:cNvPicPr/>
          <p:nvPr/>
        </p:nvPicPr>
        <p:blipFill>
          <a:blip r:embed="rId5"/>
          <a:stretch/>
        </p:blipFill>
        <p:spPr>
          <a:xfrm>
            <a:off x="4981320" y="1974960"/>
            <a:ext cx="112680" cy="8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4" name="TextBox 22"/>
          <p:cNvSpPr/>
          <p:nvPr/>
        </p:nvSpPr>
        <p:spPr>
          <a:xfrm>
            <a:off x="4981320" y="2133720"/>
            <a:ext cx="27129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2880" rIns="73080" tIns="54720" bIns="54720" anchor="ctr">
            <a:spAutoFit/>
          </a:bodyPr>
          <a:p>
            <a:pPr defTabSz="457200">
              <a:lnSpc>
                <a:spcPts val="1301"/>
              </a:lnSpc>
              <a:spcBef>
                <a:spcPts val="261"/>
              </a:spcBef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</a:t>
            </a:r>
            <a:r>
              <a:rPr b="0" lang="en-US" sz="111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</a:t>
            </a: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Code compilation &amp; upload 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5" name="Picture 23" descr="image.png"/>
          <p:cNvPicPr/>
          <p:nvPr/>
        </p:nvPicPr>
        <p:blipFill>
          <a:blip r:embed="rId6"/>
          <a:stretch/>
        </p:blipFill>
        <p:spPr>
          <a:xfrm>
            <a:off x="4981320" y="2203560"/>
            <a:ext cx="112680" cy="8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6" name="Rounded Rectangle 24"/>
          <p:cNvSpPr/>
          <p:nvPr/>
        </p:nvSpPr>
        <p:spPr>
          <a:xfrm>
            <a:off x="8010360" y="1181160"/>
            <a:ext cx="3513240" cy="140832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7" name="Rounded Rectangle 25"/>
          <p:cNvSpPr/>
          <p:nvPr/>
        </p:nvSpPr>
        <p:spPr>
          <a:xfrm>
            <a:off x="8162640" y="1333440"/>
            <a:ext cx="379440" cy="379440"/>
          </a:xfrm>
          <a:prstGeom prst="roundRect">
            <a:avLst>
              <a:gd name="adj" fmla="val 49995000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8" name="TextBox 26"/>
          <p:cNvSpPr/>
          <p:nvPr/>
        </p:nvSpPr>
        <p:spPr>
          <a:xfrm>
            <a:off x="8162640" y="1333440"/>
            <a:ext cx="3794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070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3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Box 27"/>
          <p:cNvSpPr/>
          <p:nvPr/>
        </p:nvSpPr>
        <p:spPr>
          <a:xfrm>
            <a:off x="8658000" y="1333440"/>
            <a:ext cx="271296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  <a:spcAft>
                <a:spcPts val="519"/>
              </a:spcAft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Servo Calibration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Box 28"/>
          <p:cNvSpPr/>
          <p:nvPr/>
        </p:nvSpPr>
        <p:spPr>
          <a:xfrm>
            <a:off x="8658000" y="1676520"/>
            <a:ext cx="27129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28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</a:t>
            </a:r>
            <a:r>
              <a:rPr b="0" lang="en-US" sz="111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</a:t>
            </a: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PWM signal tuning 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1" name="Picture 29" descr="image.png"/>
          <p:cNvPicPr/>
          <p:nvPr/>
        </p:nvPicPr>
        <p:blipFill>
          <a:blip r:embed="rId7"/>
          <a:stretch/>
        </p:blipFill>
        <p:spPr>
          <a:xfrm>
            <a:off x="8658000" y="1746360"/>
            <a:ext cx="112680" cy="8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2" name="TextBox 30"/>
          <p:cNvSpPr/>
          <p:nvPr/>
        </p:nvSpPr>
        <p:spPr>
          <a:xfrm>
            <a:off x="8658000" y="1863360"/>
            <a:ext cx="16693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2880" rIns="73080" tIns="54720" bIns="54720" anchor="ctr">
            <a:spAutoFit/>
          </a:bodyPr>
          <a:p>
            <a:pPr defTabSz="457200">
              <a:lnSpc>
                <a:spcPts val="1301"/>
              </a:lnSpc>
              <a:spcBef>
                <a:spcPts val="261"/>
              </a:spcBef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</a:t>
            </a:r>
            <a:r>
              <a:rPr b="0" lang="en-US" sz="111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</a:t>
            </a: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Angle adjustment (0-180) 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3" name="Picture 31" descr="image.png"/>
          <p:cNvPicPr/>
          <p:nvPr/>
        </p:nvPicPr>
        <p:blipFill>
          <a:blip r:embed="rId8"/>
          <a:stretch/>
        </p:blipFill>
        <p:spPr>
          <a:xfrm>
            <a:off x="8658000" y="1974960"/>
            <a:ext cx="112680" cy="8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4" name="TextBox 32"/>
          <p:cNvSpPr/>
          <p:nvPr/>
        </p:nvSpPr>
        <p:spPr>
          <a:xfrm>
            <a:off x="8658000" y="2133720"/>
            <a:ext cx="27129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2880" rIns="73080" tIns="54720" bIns="54720" anchor="ctr">
            <a:spAutoFit/>
          </a:bodyPr>
          <a:p>
            <a:pPr defTabSz="457200">
              <a:lnSpc>
                <a:spcPts val="1301"/>
              </a:lnSpc>
              <a:spcBef>
                <a:spcPts val="261"/>
              </a:spcBef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</a:t>
            </a:r>
            <a:r>
              <a:rPr b="0" lang="en-US" sz="111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</a:t>
            </a: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Dispensing precision test 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5" name="Picture 33" descr="image.png"/>
          <p:cNvPicPr/>
          <p:nvPr/>
        </p:nvPicPr>
        <p:blipFill>
          <a:blip r:embed="rId9"/>
          <a:stretch/>
        </p:blipFill>
        <p:spPr>
          <a:xfrm>
            <a:off x="8658000" y="2203560"/>
            <a:ext cx="112680" cy="8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6" name="Rounded Rectangle 34"/>
          <p:cNvSpPr/>
          <p:nvPr/>
        </p:nvSpPr>
        <p:spPr>
          <a:xfrm>
            <a:off x="2394720" y="2743200"/>
            <a:ext cx="2598840" cy="95112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7" name="Rounded Rectangle 35"/>
          <p:cNvSpPr/>
          <p:nvPr/>
        </p:nvSpPr>
        <p:spPr>
          <a:xfrm>
            <a:off x="2547000" y="2895480"/>
            <a:ext cx="341280" cy="341640"/>
          </a:xfrm>
          <a:prstGeom prst="roundRect">
            <a:avLst>
              <a:gd name="adj" fmla="val 55550000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8" name="TextBox 36"/>
          <p:cNvSpPr/>
          <p:nvPr/>
        </p:nvSpPr>
        <p:spPr>
          <a:xfrm>
            <a:off x="2547000" y="2895480"/>
            <a:ext cx="34128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1" lang="en-US" sz="960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4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Box 37"/>
          <p:cNvSpPr/>
          <p:nvPr/>
        </p:nvSpPr>
        <p:spPr>
          <a:xfrm>
            <a:off x="2966040" y="2895480"/>
            <a:ext cx="18748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  <a:spcAft>
                <a:spcPts val="261"/>
              </a:spcAft>
            </a:pPr>
            <a:r>
              <a:rPr b="1" lang="en-US" sz="96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IR Sensor Setup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Box 38"/>
          <p:cNvSpPr/>
          <p:nvPr/>
        </p:nvSpPr>
        <p:spPr>
          <a:xfrm>
            <a:off x="2966040" y="3139920"/>
            <a:ext cx="18748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en-US" sz="71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Threshold adjustment</a:t>
            </a:r>
            <a:endParaRPr b="0" lang="en-US" sz="7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040"/>
              </a:lnSpc>
            </a:pPr>
            <a:r>
              <a:rPr b="0" lang="en-US" sz="71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Range: 2-30cm</a:t>
            </a:r>
            <a:endParaRPr b="0" lang="en-US" sz="7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Box 41"/>
          <p:cNvSpPr/>
          <p:nvPr/>
        </p:nvSpPr>
        <p:spPr>
          <a:xfrm>
            <a:off x="3571920" y="2895480"/>
            <a:ext cx="34128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1" lang="en-US" sz="960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5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Rounded Rectangle 44"/>
          <p:cNvSpPr/>
          <p:nvPr/>
        </p:nvSpPr>
        <p:spPr>
          <a:xfrm>
            <a:off x="5164200" y="2743200"/>
            <a:ext cx="2598840" cy="95112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3" name="Rounded Rectangle 45"/>
          <p:cNvSpPr/>
          <p:nvPr/>
        </p:nvSpPr>
        <p:spPr>
          <a:xfrm>
            <a:off x="5316480" y="2895480"/>
            <a:ext cx="341280" cy="341640"/>
          </a:xfrm>
          <a:prstGeom prst="roundRect">
            <a:avLst>
              <a:gd name="adj" fmla="val 55550000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4" name="TextBox 46"/>
          <p:cNvSpPr/>
          <p:nvPr/>
        </p:nvSpPr>
        <p:spPr>
          <a:xfrm>
            <a:off x="5316480" y="2895480"/>
            <a:ext cx="34128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1" lang="en-US" sz="960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6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Box 47"/>
          <p:cNvSpPr/>
          <p:nvPr/>
        </p:nvSpPr>
        <p:spPr>
          <a:xfrm>
            <a:off x="5735520" y="2895480"/>
            <a:ext cx="18748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  <a:spcAft>
                <a:spcPts val="261"/>
              </a:spcAft>
            </a:pPr>
            <a:r>
              <a:rPr b="1" lang="en-US" sz="96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Keypad Integration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TextBox 48"/>
          <p:cNvSpPr/>
          <p:nvPr/>
        </p:nvSpPr>
        <p:spPr>
          <a:xfrm>
            <a:off x="5735520" y="3162240"/>
            <a:ext cx="187488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en-US" sz="71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Matrix scanning</a:t>
            </a:r>
            <a:endParaRPr b="0" lang="en-US" sz="7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040"/>
              </a:lnSpc>
            </a:pPr>
            <a:r>
              <a:rPr b="0" lang="en-US" sz="71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Debouncing algorithm</a:t>
            </a:r>
            <a:endParaRPr b="0" lang="en-US" sz="7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Rounded Rectangle 49"/>
          <p:cNvSpPr/>
          <p:nvPr/>
        </p:nvSpPr>
        <p:spPr>
          <a:xfrm>
            <a:off x="7916760" y="2743200"/>
            <a:ext cx="2598840" cy="95112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8" name="Rounded Rectangle 50"/>
          <p:cNvSpPr/>
          <p:nvPr/>
        </p:nvSpPr>
        <p:spPr>
          <a:xfrm>
            <a:off x="8069040" y="2895480"/>
            <a:ext cx="341280" cy="341640"/>
          </a:xfrm>
          <a:prstGeom prst="roundRect">
            <a:avLst>
              <a:gd name="adj" fmla="val 55550000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9" name="TextBox 51"/>
          <p:cNvSpPr/>
          <p:nvPr/>
        </p:nvSpPr>
        <p:spPr>
          <a:xfrm>
            <a:off x="8069040" y="2895480"/>
            <a:ext cx="34128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1" lang="en-US" sz="960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7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Box 52"/>
          <p:cNvSpPr/>
          <p:nvPr/>
        </p:nvSpPr>
        <p:spPr>
          <a:xfrm>
            <a:off x="8488080" y="2895480"/>
            <a:ext cx="18748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  <a:spcAft>
                <a:spcPts val="261"/>
              </a:spcAft>
            </a:pPr>
            <a:r>
              <a:rPr b="1" lang="en-US" sz="96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ESP-32 Configuration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Box 53"/>
          <p:cNvSpPr/>
          <p:nvPr/>
        </p:nvSpPr>
        <p:spPr>
          <a:xfrm>
            <a:off x="8488080" y="3162240"/>
            <a:ext cx="187488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en-US" sz="71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WiFi connection</a:t>
            </a:r>
            <a:endParaRPr b="0" lang="en-US" sz="7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040"/>
              </a:lnSpc>
            </a:pPr>
            <a:r>
              <a:rPr b="0" lang="en-US" sz="71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Bleutooth setup</a:t>
            </a:r>
            <a:endParaRPr b="0" lang="en-US" sz="7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Rounded Rectangle 54"/>
          <p:cNvSpPr/>
          <p:nvPr/>
        </p:nvSpPr>
        <p:spPr>
          <a:xfrm>
            <a:off x="666720" y="3848040"/>
            <a:ext cx="5351400" cy="1256040"/>
          </a:xfrm>
          <a:prstGeom prst="roundRect">
            <a:avLst>
              <a:gd name="adj" fmla="val 18181"/>
            </a:avLst>
          </a:prstGeom>
          <a:gradFill rotWithShape="0">
            <a:gsLst>
              <a:gs pos="0">
                <a:srgbClr val="dbeafe"/>
              </a:gs>
              <a:gs pos="100000">
                <a:srgbClr val="bfdbfe"/>
              </a:gs>
            </a:gsLst>
            <a:lin ang="8100000"/>
          </a:gradFill>
          <a:ln w="16510">
            <a:solidFill>
              <a:srgbClr val="93c5f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83" name="Picture 55" descr="image.png"/>
          <p:cNvPicPr/>
          <p:nvPr/>
        </p:nvPicPr>
        <p:blipFill>
          <a:blip r:embed="rId10"/>
          <a:stretch/>
        </p:blipFill>
        <p:spPr>
          <a:xfrm>
            <a:off x="838080" y="4068360"/>
            <a:ext cx="284400" cy="24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4" name="TextBox 56"/>
          <p:cNvSpPr/>
          <p:nvPr/>
        </p:nvSpPr>
        <p:spPr>
          <a:xfrm>
            <a:off x="1238040" y="4019400"/>
            <a:ext cx="46087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  <a:spcAft>
                <a:spcPts val="519"/>
              </a:spcAft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System Integration &amp; Testing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5" name="Picture 57" descr="image.png"/>
          <p:cNvPicPr/>
          <p:nvPr/>
        </p:nvPicPr>
        <p:blipFill>
          <a:blip r:embed="rId11"/>
          <a:stretch/>
        </p:blipFill>
        <p:spPr>
          <a:xfrm>
            <a:off x="1238040" y="4411440"/>
            <a:ext cx="150840" cy="1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6" name="TextBox 58"/>
          <p:cNvSpPr/>
          <p:nvPr/>
        </p:nvSpPr>
        <p:spPr>
          <a:xfrm>
            <a:off x="1428840" y="4381560"/>
            <a:ext cx="139860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374151"/>
                </a:solidFill>
                <a:effectLst/>
                <a:uFillTx/>
                <a:latin typeface="Roboto"/>
              </a:rPr>
              <a:t>Module interconnection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7" name="Picture 59" descr="image.png"/>
          <p:cNvPicPr/>
          <p:nvPr/>
        </p:nvPicPr>
        <p:blipFill>
          <a:blip r:embed="rId12"/>
          <a:stretch/>
        </p:blipFill>
        <p:spPr>
          <a:xfrm>
            <a:off x="3600360" y="4411440"/>
            <a:ext cx="150840" cy="1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8" name="TextBox 60"/>
          <p:cNvSpPr/>
          <p:nvPr/>
        </p:nvSpPr>
        <p:spPr>
          <a:xfrm>
            <a:off x="3790800" y="4381560"/>
            <a:ext cx="137952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374151"/>
                </a:solidFill>
                <a:effectLst/>
                <a:uFillTx/>
                <a:latin typeface="Roboto"/>
              </a:rPr>
              <a:t>Communication testing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9" name="Picture 61" descr="image.png"/>
          <p:cNvPicPr/>
          <p:nvPr/>
        </p:nvPicPr>
        <p:blipFill>
          <a:blip r:embed="rId13"/>
          <a:stretch/>
        </p:blipFill>
        <p:spPr>
          <a:xfrm>
            <a:off x="1238040" y="4754160"/>
            <a:ext cx="150840" cy="1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0" name="TextBox 62"/>
          <p:cNvSpPr/>
          <p:nvPr/>
        </p:nvSpPr>
        <p:spPr>
          <a:xfrm>
            <a:off x="1428840" y="4724280"/>
            <a:ext cx="12081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374151"/>
                </a:solidFill>
                <a:effectLst/>
                <a:uFillTx/>
                <a:latin typeface="Roboto"/>
              </a:rPr>
              <a:t>End-to-end workflow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1" name="Picture 63" descr="image.png"/>
          <p:cNvPicPr/>
          <p:nvPr/>
        </p:nvPicPr>
        <p:blipFill>
          <a:blip r:embed="rId14"/>
          <a:stretch/>
        </p:blipFill>
        <p:spPr>
          <a:xfrm>
            <a:off x="3600360" y="4754160"/>
            <a:ext cx="150840" cy="1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2" name="TextBox 64"/>
          <p:cNvSpPr/>
          <p:nvPr/>
        </p:nvSpPr>
        <p:spPr>
          <a:xfrm>
            <a:off x="3790800" y="4724280"/>
            <a:ext cx="8272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374151"/>
                </a:solidFill>
                <a:effectLst/>
                <a:uFillTx/>
                <a:latin typeface="Roboto"/>
              </a:rPr>
              <a:t>Error handling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Rounded Rectangle 65"/>
          <p:cNvSpPr/>
          <p:nvPr/>
        </p:nvSpPr>
        <p:spPr>
          <a:xfrm>
            <a:off x="6172200" y="3848040"/>
            <a:ext cx="5351400" cy="1256040"/>
          </a:xfrm>
          <a:prstGeom prst="roundRect">
            <a:avLst>
              <a:gd name="adj" fmla="val 18181"/>
            </a:avLst>
          </a:prstGeom>
          <a:gradFill rotWithShape="0">
            <a:gsLst>
              <a:gs pos="0">
                <a:srgbClr val="f0fdf4"/>
              </a:gs>
              <a:gs pos="100000">
                <a:srgbClr val="dcfce7"/>
              </a:gs>
            </a:gsLst>
            <a:lin ang="8100000"/>
          </a:gradFill>
          <a:ln w="16510">
            <a:solidFill>
              <a:srgbClr val="86efa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94" name="Picture 66" descr="image.png"/>
          <p:cNvPicPr/>
          <p:nvPr/>
        </p:nvPicPr>
        <p:blipFill>
          <a:blip r:embed="rId15"/>
          <a:stretch/>
        </p:blipFill>
        <p:spPr>
          <a:xfrm>
            <a:off x="6343560" y="4080240"/>
            <a:ext cx="284400" cy="22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5" name="TextBox 67"/>
          <p:cNvSpPr/>
          <p:nvPr/>
        </p:nvSpPr>
        <p:spPr>
          <a:xfrm>
            <a:off x="6743520" y="4019400"/>
            <a:ext cx="46087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  <a:spcAft>
                <a:spcPts val="519"/>
              </a:spcAft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Power Supply Design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6" name="Picture 68" descr="image.png"/>
          <p:cNvPicPr/>
          <p:nvPr/>
        </p:nvPicPr>
        <p:blipFill>
          <a:blip r:embed="rId16"/>
          <a:stretch/>
        </p:blipFill>
        <p:spPr>
          <a:xfrm>
            <a:off x="6743520" y="4411440"/>
            <a:ext cx="150840" cy="1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7" name="TextBox 69"/>
          <p:cNvSpPr/>
          <p:nvPr/>
        </p:nvSpPr>
        <p:spPr>
          <a:xfrm>
            <a:off x="6933960" y="4381560"/>
            <a:ext cx="117000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374151"/>
                </a:solidFill>
                <a:effectLst/>
                <a:uFillTx/>
                <a:latin typeface="Roboto"/>
              </a:rPr>
              <a:t>5V regulated output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8" name="Picture 70" descr="image.png"/>
          <p:cNvPicPr/>
          <p:nvPr/>
        </p:nvPicPr>
        <p:blipFill>
          <a:blip r:embed="rId17"/>
          <a:stretch/>
        </p:blipFill>
        <p:spPr>
          <a:xfrm>
            <a:off x="9105840" y="4419720"/>
            <a:ext cx="150840" cy="11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9" name="TextBox 71"/>
          <p:cNvSpPr/>
          <p:nvPr/>
        </p:nvSpPr>
        <p:spPr>
          <a:xfrm>
            <a:off x="9296280" y="4381560"/>
            <a:ext cx="119880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374151"/>
                </a:solidFill>
                <a:effectLst/>
                <a:uFillTx/>
                <a:latin typeface="Roboto"/>
              </a:rPr>
              <a:t>Current capacity: 2A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0" name="Picture 72" descr="image.png"/>
          <p:cNvPicPr/>
          <p:nvPr/>
        </p:nvPicPr>
        <p:blipFill>
          <a:blip r:embed="rId18"/>
          <a:stretch/>
        </p:blipFill>
        <p:spPr>
          <a:xfrm>
            <a:off x="6743520" y="4746240"/>
            <a:ext cx="150840" cy="14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1" name="TextBox 73"/>
          <p:cNvSpPr/>
          <p:nvPr/>
        </p:nvSpPr>
        <p:spPr>
          <a:xfrm>
            <a:off x="6933960" y="4724280"/>
            <a:ext cx="137952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374151"/>
                </a:solidFill>
                <a:effectLst/>
                <a:uFillTx/>
                <a:latin typeface="Roboto"/>
              </a:rPr>
              <a:t>Over-voltage protection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2" name="Picture 74" descr="image.png"/>
          <p:cNvPicPr/>
          <p:nvPr/>
        </p:nvPicPr>
        <p:blipFill>
          <a:blip r:embed="rId19"/>
          <a:stretch/>
        </p:blipFill>
        <p:spPr>
          <a:xfrm>
            <a:off x="9105840" y="4754160"/>
            <a:ext cx="150840" cy="1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3" name="TextBox 75"/>
          <p:cNvSpPr/>
          <p:nvPr/>
        </p:nvSpPr>
        <p:spPr>
          <a:xfrm>
            <a:off x="9296280" y="4724280"/>
            <a:ext cx="129384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374151"/>
                </a:solidFill>
                <a:effectLst/>
                <a:uFillTx/>
                <a:latin typeface="Roboto"/>
              </a:rPr>
              <a:t>Backup battery option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PlaceHolder 1"/>
          <p:cNvSpPr>
            <a:spLocks noGrp="1"/>
          </p:cNvSpPr>
          <p:nvPr>
            <p:ph type="sldNum" idx="46"/>
          </p:nvPr>
        </p:nvSpPr>
        <p:spPr>
          <a:xfrm>
            <a:off x="10058040" y="649404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4CB3189-89FB-4449-A2F6-96530707363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9fafb"/>
            </a:gs>
            <a:gs pos="100000">
              <a:srgbClr val="eff6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Rectangle 4"/>
          <p:cNvSpPr/>
          <p:nvPr/>
        </p:nvSpPr>
        <p:spPr>
          <a:xfrm>
            <a:off x="0" y="0"/>
            <a:ext cx="12191400" cy="951840"/>
          </a:xfrm>
          <a:prstGeom prst="rect">
            <a:avLst/>
          </a:prstGeom>
          <a:solidFill>
            <a:srgbClr val="197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6" name="Rounded Rectangle 31"/>
          <p:cNvSpPr/>
          <p:nvPr/>
        </p:nvSpPr>
        <p:spPr>
          <a:xfrm>
            <a:off x="666720" y="247680"/>
            <a:ext cx="56520" cy="456480"/>
          </a:xfrm>
          <a:prstGeom prst="roundRect">
            <a:avLst>
              <a:gd name="adj" fmla="val 333300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7" name="TextBox 116"/>
          <p:cNvSpPr/>
          <p:nvPr/>
        </p:nvSpPr>
        <p:spPr>
          <a:xfrm>
            <a:off x="876240" y="174240"/>
            <a:ext cx="3622320" cy="60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3900"/>
              </a:lnSpc>
            </a:pPr>
            <a:r>
              <a:rPr b="1" lang="en-US" sz="2390" strike="noStrike" u="none">
                <a:solidFill>
                  <a:srgbClr val="ffffff"/>
                </a:solidFill>
                <a:effectLst/>
                <a:uFillTx/>
                <a:latin typeface="Montserrat"/>
              </a:rPr>
              <a:t>Cost Analysis &amp; Budget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Rounded Rectangle 37"/>
          <p:cNvSpPr/>
          <p:nvPr/>
        </p:nvSpPr>
        <p:spPr>
          <a:xfrm>
            <a:off x="666720" y="1181160"/>
            <a:ext cx="5352120" cy="60336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09" name="Picture 83" descr="image.png"/>
          <p:cNvPicPr/>
          <p:nvPr/>
        </p:nvPicPr>
        <p:blipFill>
          <a:blip r:embed="rId1"/>
          <a:stretch/>
        </p:blipFill>
        <p:spPr>
          <a:xfrm>
            <a:off x="781200" y="1401840"/>
            <a:ext cx="227880" cy="16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0" name="TextBox 117"/>
          <p:cNvSpPr/>
          <p:nvPr/>
        </p:nvSpPr>
        <p:spPr>
          <a:xfrm>
            <a:off x="1123920" y="1241640"/>
            <a:ext cx="99360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1" lang="en-US" sz="96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Arduino Nano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Box 118"/>
          <p:cNvSpPr/>
          <p:nvPr/>
        </p:nvSpPr>
        <p:spPr>
          <a:xfrm>
            <a:off x="1123920" y="1452960"/>
            <a:ext cx="1152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Microcontroller Unit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Box 119"/>
          <p:cNvSpPr/>
          <p:nvPr/>
        </p:nvSpPr>
        <p:spPr>
          <a:xfrm>
            <a:off x="5523120" y="1315800"/>
            <a:ext cx="38124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 anchorCtr="1">
            <a:spAutoFit/>
          </a:bodyPr>
          <a:p>
            <a:pPr algn="r" defTabSz="457200">
              <a:lnSpc>
                <a:spcPts val="1820"/>
              </a:lnSpc>
            </a:pPr>
            <a:r>
              <a:rPr b="1" lang="en-US" sz="1070" strike="noStrike" u="none">
                <a:solidFill>
                  <a:srgbClr val="1976d2"/>
                </a:solidFill>
                <a:effectLst/>
                <a:uFillTx/>
                <a:latin typeface="Roboto"/>
              </a:rPr>
              <a:t>350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Rounded Rectangle 52"/>
          <p:cNvSpPr/>
          <p:nvPr/>
        </p:nvSpPr>
        <p:spPr>
          <a:xfrm>
            <a:off x="666720" y="1892520"/>
            <a:ext cx="5352120" cy="61056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14" name="Picture 84" descr="image.png"/>
          <p:cNvPicPr/>
          <p:nvPr/>
        </p:nvPicPr>
        <p:blipFill>
          <a:blip r:embed="rId2"/>
          <a:stretch/>
        </p:blipFill>
        <p:spPr>
          <a:xfrm>
            <a:off x="781200" y="2112840"/>
            <a:ext cx="227880" cy="16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5" name="TextBox 120"/>
          <p:cNvSpPr/>
          <p:nvPr/>
        </p:nvSpPr>
        <p:spPr>
          <a:xfrm>
            <a:off x="1123920" y="1959840"/>
            <a:ext cx="102600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1" lang="en-US" sz="96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ESP-32 Module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Box 121"/>
          <p:cNvSpPr/>
          <p:nvPr/>
        </p:nvSpPr>
        <p:spPr>
          <a:xfrm>
            <a:off x="1123920" y="2171520"/>
            <a:ext cx="984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WiFi &amp; Bluetooth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Box 122"/>
          <p:cNvSpPr/>
          <p:nvPr/>
        </p:nvSpPr>
        <p:spPr>
          <a:xfrm>
            <a:off x="5523120" y="2026800"/>
            <a:ext cx="38124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 anchorCtr="1">
            <a:spAutoFit/>
          </a:bodyPr>
          <a:p>
            <a:pPr algn="r" defTabSz="457200">
              <a:lnSpc>
                <a:spcPts val="1820"/>
              </a:lnSpc>
            </a:pPr>
            <a:r>
              <a:rPr b="1" lang="en-US" sz="1070" strike="noStrike" u="none">
                <a:solidFill>
                  <a:srgbClr val="1976d2"/>
                </a:solidFill>
                <a:effectLst/>
                <a:uFillTx/>
                <a:latin typeface="Roboto"/>
              </a:rPr>
              <a:t>400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Rounded Rectangle 56"/>
          <p:cNvSpPr/>
          <p:nvPr/>
        </p:nvSpPr>
        <p:spPr>
          <a:xfrm>
            <a:off x="666720" y="2610720"/>
            <a:ext cx="5352120" cy="60336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19" name="Picture 85" descr="image.png"/>
          <p:cNvPicPr/>
          <p:nvPr/>
        </p:nvPicPr>
        <p:blipFill>
          <a:blip r:embed="rId3"/>
          <a:stretch/>
        </p:blipFill>
        <p:spPr>
          <a:xfrm>
            <a:off x="781200" y="2823120"/>
            <a:ext cx="227880" cy="17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0" name="TextBox 123"/>
          <p:cNvSpPr/>
          <p:nvPr/>
        </p:nvSpPr>
        <p:spPr>
          <a:xfrm>
            <a:off x="1123920" y="2671200"/>
            <a:ext cx="121860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1" lang="en-US" sz="96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Servo Motor SG90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Box 124"/>
          <p:cNvSpPr/>
          <p:nvPr/>
        </p:nvSpPr>
        <p:spPr>
          <a:xfrm>
            <a:off x="1123920" y="2882880"/>
            <a:ext cx="1163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Dispensing Actuator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Box 125"/>
          <p:cNvSpPr/>
          <p:nvPr/>
        </p:nvSpPr>
        <p:spPr>
          <a:xfrm>
            <a:off x="5523120" y="2739960"/>
            <a:ext cx="38124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 anchorCtr="1">
            <a:spAutoFit/>
          </a:bodyPr>
          <a:p>
            <a:pPr algn="r" defTabSz="457200">
              <a:lnSpc>
                <a:spcPts val="1820"/>
              </a:lnSpc>
            </a:pPr>
            <a:r>
              <a:rPr b="1" lang="en-US" sz="1070" strike="noStrike" u="none">
                <a:solidFill>
                  <a:srgbClr val="1976d2"/>
                </a:solidFill>
                <a:effectLst/>
                <a:uFillTx/>
                <a:latin typeface="Roboto"/>
              </a:rPr>
              <a:t>190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Rounded Rectangle 57"/>
          <p:cNvSpPr/>
          <p:nvPr/>
        </p:nvSpPr>
        <p:spPr>
          <a:xfrm>
            <a:off x="666720" y="3322080"/>
            <a:ext cx="5352120" cy="60480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24" name="Picture 86" descr="image.png"/>
          <p:cNvPicPr/>
          <p:nvPr/>
        </p:nvPicPr>
        <p:blipFill>
          <a:blip r:embed="rId4"/>
          <a:stretch/>
        </p:blipFill>
        <p:spPr>
          <a:xfrm>
            <a:off x="781200" y="3556800"/>
            <a:ext cx="227880" cy="13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5" name="TextBox 126"/>
          <p:cNvSpPr/>
          <p:nvPr/>
        </p:nvSpPr>
        <p:spPr>
          <a:xfrm>
            <a:off x="1123920" y="3384000"/>
            <a:ext cx="76320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1" lang="en-US" sz="96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IR Module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TextBox 127"/>
          <p:cNvSpPr/>
          <p:nvPr/>
        </p:nvSpPr>
        <p:spPr>
          <a:xfrm>
            <a:off x="1123920" y="3595680"/>
            <a:ext cx="1002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Detection Sensor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TextBox 128"/>
          <p:cNvSpPr/>
          <p:nvPr/>
        </p:nvSpPr>
        <p:spPr>
          <a:xfrm>
            <a:off x="5601600" y="3454920"/>
            <a:ext cx="30276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 anchorCtr="1">
            <a:spAutoFit/>
          </a:bodyPr>
          <a:p>
            <a:pPr algn="r" defTabSz="457200">
              <a:lnSpc>
                <a:spcPts val="1820"/>
              </a:lnSpc>
            </a:pPr>
            <a:r>
              <a:rPr b="1" lang="en-US" sz="1070" strike="noStrike" u="none">
                <a:solidFill>
                  <a:srgbClr val="1976d2"/>
                </a:solidFill>
                <a:effectLst/>
                <a:uFillTx/>
                <a:latin typeface="Roboto"/>
              </a:rPr>
              <a:t>80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Rounded Rectangle 102"/>
          <p:cNvSpPr/>
          <p:nvPr/>
        </p:nvSpPr>
        <p:spPr>
          <a:xfrm>
            <a:off x="666720" y="4034880"/>
            <a:ext cx="5352120" cy="60732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29" name="Picture 87" descr="image.png"/>
          <p:cNvPicPr/>
          <p:nvPr/>
        </p:nvPicPr>
        <p:blipFill>
          <a:blip r:embed="rId5"/>
          <a:stretch/>
        </p:blipFill>
        <p:spPr>
          <a:xfrm>
            <a:off x="781200" y="4255560"/>
            <a:ext cx="227880" cy="16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0" name="TextBox 129"/>
          <p:cNvSpPr/>
          <p:nvPr/>
        </p:nvSpPr>
        <p:spPr>
          <a:xfrm>
            <a:off x="1123920" y="4100760"/>
            <a:ext cx="108432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1" lang="en-US" sz="96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I2C LCD Display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Box 130"/>
          <p:cNvSpPr/>
          <p:nvPr/>
        </p:nvSpPr>
        <p:spPr>
          <a:xfrm>
            <a:off x="1123920" y="4312080"/>
            <a:ext cx="12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16x2 Character Display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Box 131"/>
          <p:cNvSpPr/>
          <p:nvPr/>
        </p:nvSpPr>
        <p:spPr>
          <a:xfrm>
            <a:off x="5523120" y="4167720"/>
            <a:ext cx="38124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 anchorCtr="1">
            <a:spAutoFit/>
          </a:bodyPr>
          <a:p>
            <a:pPr algn="r" defTabSz="457200">
              <a:lnSpc>
                <a:spcPts val="1820"/>
              </a:lnSpc>
            </a:pPr>
            <a:r>
              <a:rPr b="1" lang="en-US" sz="1070" strike="noStrike" u="none">
                <a:solidFill>
                  <a:srgbClr val="1976d2"/>
                </a:solidFill>
                <a:effectLst/>
                <a:uFillTx/>
                <a:latin typeface="Roboto"/>
              </a:rPr>
              <a:t>185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Rounded Rectangle 103"/>
          <p:cNvSpPr/>
          <p:nvPr/>
        </p:nvSpPr>
        <p:spPr>
          <a:xfrm>
            <a:off x="6172200" y="1181160"/>
            <a:ext cx="5352120" cy="60336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34" name="Picture 88" descr="image.png"/>
          <p:cNvPicPr/>
          <p:nvPr/>
        </p:nvPicPr>
        <p:blipFill>
          <a:blip r:embed="rId6"/>
          <a:stretch/>
        </p:blipFill>
        <p:spPr>
          <a:xfrm>
            <a:off x="6286320" y="1419120"/>
            <a:ext cx="227880" cy="13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5" name="TextBox 132"/>
          <p:cNvSpPr/>
          <p:nvPr/>
        </p:nvSpPr>
        <p:spPr>
          <a:xfrm>
            <a:off x="6629400" y="1241640"/>
            <a:ext cx="127224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1" lang="en-US" sz="96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4x4 Matrix Keypad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TextBox 133"/>
          <p:cNvSpPr/>
          <p:nvPr/>
        </p:nvSpPr>
        <p:spPr>
          <a:xfrm>
            <a:off x="6629400" y="1452960"/>
            <a:ext cx="103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User Input Device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TextBox 134"/>
          <p:cNvSpPr/>
          <p:nvPr/>
        </p:nvSpPr>
        <p:spPr>
          <a:xfrm>
            <a:off x="11107080" y="1315800"/>
            <a:ext cx="30276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 anchorCtr="1">
            <a:spAutoFit/>
          </a:bodyPr>
          <a:p>
            <a:pPr algn="r" defTabSz="457200">
              <a:lnSpc>
                <a:spcPts val="1820"/>
              </a:lnSpc>
            </a:pPr>
            <a:r>
              <a:rPr b="1" lang="en-US" sz="1070" strike="noStrike" u="none">
                <a:solidFill>
                  <a:srgbClr val="1976d2"/>
                </a:solidFill>
                <a:effectLst/>
                <a:uFillTx/>
                <a:latin typeface="Roboto"/>
              </a:rPr>
              <a:t>60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Rounded Rectangle 104"/>
          <p:cNvSpPr/>
          <p:nvPr/>
        </p:nvSpPr>
        <p:spPr>
          <a:xfrm>
            <a:off x="6172200" y="1892520"/>
            <a:ext cx="5352120" cy="61056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39" name="Picture 89" descr="image.png"/>
          <p:cNvPicPr/>
          <p:nvPr/>
        </p:nvPicPr>
        <p:blipFill>
          <a:blip r:embed="rId7"/>
          <a:stretch/>
        </p:blipFill>
        <p:spPr>
          <a:xfrm>
            <a:off x="6286320" y="2112840"/>
            <a:ext cx="227880" cy="16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0" name="TextBox 135"/>
          <p:cNvSpPr/>
          <p:nvPr/>
        </p:nvSpPr>
        <p:spPr>
          <a:xfrm>
            <a:off x="6629400" y="1959840"/>
            <a:ext cx="38268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1" lang="en-US" sz="96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PCB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TextBox 136"/>
          <p:cNvSpPr/>
          <p:nvPr/>
        </p:nvSpPr>
        <p:spPr>
          <a:xfrm>
            <a:off x="6629400" y="2171520"/>
            <a:ext cx="121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Custom Circuit Board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TextBox 137"/>
          <p:cNvSpPr/>
          <p:nvPr/>
        </p:nvSpPr>
        <p:spPr>
          <a:xfrm>
            <a:off x="11107080" y="2026800"/>
            <a:ext cx="30276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 anchorCtr="1">
            <a:spAutoFit/>
          </a:bodyPr>
          <a:p>
            <a:pPr algn="r" defTabSz="457200">
              <a:lnSpc>
                <a:spcPts val="1820"/>
              </a:lnSpc>
            </a:pPr>
            <a:r>
              <a:rPr b="1" lang="en-US" sz="1070" strike="noStrike" u="none">
                <a:solidFill>
                  <a:srgbClr val="1976d2"/>
                </a:solidFill>
                <a:effectLst/>
                <a:uFillTx/>
                <a:latin typeface="Roboto"/>
              </a:rPr>
              <a:t>50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Rounded Rectangle 105"/>
          <p:cNvSpPr/>
          <p:nvPr/>
        </p:nvSpPr>
        <p:spPr>
          <a:xfrm>
            <a:off x="6172200" y="2610720"/>
            <a:ext cx="5352120" cy="60336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44" name="Picture 90" descr="image.png"/>
          <p:cNvPicPr/>
          <p:nvPr/>
        </p:nvPicPr>
        <p:blipFill>
          <a:blip r:embed="rId8"/>
          <a:stretch/>
        </p:blipFill>
        <p:spPr>
          <a:xfrm>
            <a:off x="6286320" y="2831760"/>
            <a:ext cx="227880" cy="16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5" name="TextBox 138"/>
          <p:cNvSpPr/>
          <p:nvPr/>
        </p:nvSpPr>
        <p:spPr>
          <a:xfrm>
            <a:off x="6629400" y="2671200"/>
            <a:ext cx="149796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1" lang="en-US" sz="96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Headers &amp; Connectors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TextBox 139"/>
          <p:cNvSpPr/>
          <p:nvPr/>
        </p:nvSpPr>
        <p:spPr>
          <a:xfrm>
            <a:off x="6629400" y="2882880"/>
            <a:ext cx="105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M-F, M-M Jumpers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TextBox 140"/>
          <p:cNvSpPr/>
          <p:nvPr/>
        </p:nvSpPr>
        <p:spPr>
          <a:xfrm>
            <a:off x="11107080" y="2739960"/>
            <a:ext cx="30276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 anchorCtr="1">
            <a:spAutoFit/>
          </a:bodyPr>
          <a:p>
            <a:pPr algn="r" defTabSz="457200">
              <a:lnSpc>
                <a:spcPts val="1820"/>
              </a:lnSpc>
            </a:pPr>
            <a:r>
              <a:rPr b="1" lang="en-US" sz="1070" strike="noStrike" u="none">
                <a:solidFill>
                  <a:srgbClr val="1976d2"/>
                </a:solidFill>
                <a:effectLst/>
                <a:uFillTx/>
                <a:latin typeface="Roboto"/>
              </a:rPr>
              <a:t>40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Rounded Rectangle 106"/>
          <p:cNvSpPr/>
          <p:nvPr/>
        </p:nvSpPr>
        <p:spPr>
          <a:xfrm>
            <a:off x="6172200" y="3322080"/>
            <a:ext cx="5352120" cy="60480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49" name="Picture 91" descr="image.png"/>
          <p:cNvPicPr/>
          <p:nvPr/>
        </p:nvPicPr>
        <p:blipFill>
          <a:blip r:embed="rId9"/>
          <a:stretch/>
        </p:blipFill>
        <p:spPr>
          <a:xfrm>
            <a:off x="6286320" y="3542400"/>
            <a:ext cx="227880" cy="16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0" name="TextBox 141"/>
          <p:cNvSpPr/>
          <p:nvPr/>
        </p:nvSpPr>
        <p:spPr>
          <a:xfrm>
            <a:off x="6629400" y="3384000"/>
            <a:ext cx="48708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1" lang="en-US" sz="96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Wires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TextBox 142"/>
          <p:cNvSpPr/>
          <p:nvPr/>
        </p:nvSpPr>
        <p:spPr>
          <a:xfrm>
            <a:off x="6629400" y="3595680"/>
            <a:ext cx="1033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Assorted Jumpers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TextBox 143"/>
          <p:cNvSpPr/>
          <p:nvPr/>
        </p:nvSpPr>
        <p:spPr>
          <a:xfrm>
            <a:off x="11107080" y="3454920"/>
            <a:ext cx="30276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 anchorCtr="1">
            <a:spAutoFit/>
          </a:bodyPr>
          <a:p>
            <a:pPr algn="r" defTabSz="457200">
              <a:lnSpc>
                <a:spcPts val="1820"/>
              </a:lnSpc>
            </a:pPr>
            <a:r>
              <a:rPr b="1" lang="en-US" sz="1070" strike="noStrike" u="none">
                <a:solidFill>
                  <a:srgbClr val="1976d2"/>
                </a:solidFill>
                <a:effectLst/>
                <a:uFillTx/>
                <a:latin typeface="Roboto"/>
              </a:rPr>
              <a:t>20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Rounded Rectangle 107"/>
          <p:cNvSpPr/>
          <p:nvPr/>
        </p:nvSpPr>
        <p:spPr>
          <a:xfrm>
            <a:off x="6172200" y="4034880"/>
            <a:ext cx="5352120" cy="60732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54" name="Picture 92" descr="image.png"/>
          <p:cNvPicPr/>
          <p:nvPr/>
        </p:nvPicPr>
        <p:blipFill>
          <a:blip r:embed="rId10"/>
          <a:stretch/>
        </p:blipFill>
        <p:spPr>
          <a:xfrm>
            <a:off x="6286320" y="4246920"/>
            <a:ext cx="227880" cy="182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5" name="TextBox 144"/>
          <p:cNvSpPr/>
          <p:nvPr/>
        </p:nvSpPr>
        <p:spPr>
          <a:xfrm>
            <a:off x="6629400" y="4100760"/>
            <a:ext cx="101016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1" lang="en-US" sz="96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Miscellaneous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TextBox 145"/>
          <p:cNvSpPr/>
          <p:nvPr/>
        </p:nvSpPr>
        <p:spPr>
          <a:xfrm>
            <a:off x="6629400" y="4312080"/>
            <a:ext cx="1270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Enclosure, Screws, etc.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TextBox 146"/>
          <p:cNvSpPr/>
          <p:nvPr/>
        </p:nvSpPr>
        <p:spPr>
          <a:xfrm>
            <a:off x="11028600" y="4167720"/>
            <a:ext cx="38124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 anchorCtr="1">
            <a:spAutoFit/>
          </a:bodyPr>
          <a:p>
            <a:pPr algn="r" defTabSz="457200">
              <a:lnSpc>
                <a:spcPts val="1820"/>
              </a:lnSpc>
            </a:pPr>
            <a:r>
              <a:rPr b="1" lang="en-US" sz="1070" strike="noStrike" u="none">
                <a:solidFill>
                  <a:srgbClr val="1976d2"/>
                </a:solidFill>
                <a:effectLst/>
                <a:uFillTx/>
                <a:latin typeface="Roboto"/>
              </a:rPr>
              <a:t>110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Rounded Rectangle 114"/>
          <p:cNvSpPr/>
          <p:nvPr/>
        </p:nvSpPr>
        <p:spPr>
          <a:xfrm>
            <a:off x="6172200" y="4820760"/>
            <a:ext cx="5352120" cy="1791720"/>
          </a:xfrm>
          <a:prstGeom prst="roundRect">
            <a:avLst>
              <a:gd name="adj" fmla="val 7960"/>
            </a:avLst>
          </a:prstGeom>
          <a:gradFill rotWithShape="0">
            <a:gsLst>
              <a:gs pos="0">
                <a:srgbClr val="1976d2"/>
              </a:gs>
              <a:gs pos="100000">
                <a:srgbClr val="2196f3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59" name="Picture 94" descr="image.png"/>
          <p:cNvPicPr/>
          <p:nvPr/>
        </p:nvPicPr>
        <p:blipFill>
          <a:blip r:embed="rId11"/>
          <a:stretch/>
        </p:blipFill>
        <p:spPr>
          <a:xfrm>
            <a:off x="6324480" y="5023800"/>
            <a:ext cx="227880" cy="16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0" name="TextBox 158"/>
          <p:cNvSpPr/>
          <p:nvPr/>
        </p:nvSpPr>
        <p:spPr>
          <a:xfrm>
            <a:off x="6629400" y="4940640"/>
            <a:ext cx="154800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070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Total Estimated Cost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TextBox 159"/>
          <p:cNvSpPr/>
          <p:nvPr/>
        </p:nvSpPr>
        <p:spPr>
          <a:xfrm>
            <a:off x="6324480" y="5417640"/>
            <a:ext cx="114516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Complete System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Box 160"/>
          <p:cNvSpPr/>
          <p:nvPr/>
        </p:nvSpPr>
        <p:spPr>
          <a:xfrm>
            <a:off x="6324480" y="5667480"/>
            <a:ext cx="1415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  <a:spcBef>
                <a:spcPts val="261"/>
              </a:spcBef>
            </a:pPr>
            <a:r>
              <a:rPr b="0" lang="en-US" sz="839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Including all components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TextBox 161"/>
          <p:cNvSpPr/>
          <p:nvPr/>
        </p:nvSpPr>
        <p:spPr>
          <a:xfrm>
            <a:off x="10392480" y="5318640"/>
            <a:ext cx="979560" cy="50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 anchorCtr="1">
            <a:spAutoFit/>
          </a:bodyPr>
          <a:p>
            <a:pPr algn="r" defTabSz="457200">
              <a:lnSpc>
                <a:spcPts val="3121"/>
              </a:lnSpc>
              <a:spcAft>
                <a:spcPts val="261"/>
              </a:spcAft>
            </a:pPr>
            <a:r>
              <a:rPr b="1" lang="en-US" sz="2870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1485</a:t>
            </a:r>
            <a:endParaRPr b="0" lang="en-US" sz="2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TextBox 162"/>
          <p:cNvSpPr/>
          <p:nvPr/>
        </p:nvSpPr>
        <p:spPr>
          <a:xfrm>
            <a:off x="10971720" y="5774400"/>
            <a:ext cx="400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 anchorCtr="1">
            <a:spAutoFit/>
          </a:bodyPr>
          <a:p>
            <a:pPr algn="r"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TAKA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5" name="Picture 95" descr="image.png"/>
          <p:cNvPicPr/>
          <p:nvPr/>
        </p:nvPicPr>
        <p:blipFill>
          <a:blip r:embed="rId12"/>
          <a:stretch/>
        </p:blipFill>
        <p:spPr>
          <a:xfrm>
            <a:off x="6324480" y="6262200"/>
            <a:ext cx="189720" cy="16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6" name="TextBox 163"/>
          <p:cNvSpPr/>
          <p:nvPr/>
        </p:nvSpPr>
        <p:spPr>
          <a:xfrm>
            <a:off x="6591240" y="6212160"/>
            <a:ext cx="297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Cost-effective design suitable for healthcare applications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PlaceHolder 1"/>
          <p:cNvSpPr>
            <a:spLocks noGrp="1"/>
          </p:cNvSpPr>
          <p:nvPr>
            <p:ph type="sldNum" idx="47"/>
          </p:nvPr>
        </p:nvSpPr>
        <p:spPr>
          <a:xfrm>
            <a:off x="10050120" y="649584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548A60A-0FFC-4165-9EDB-B6FC7820A7C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9fafb"/>
            </a:gs>
            <a:gs pos="100000">
              <a:srgbClr val="eff6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Rectangle 1"/>
          <p:cNvSpPr/>
          <p:nvPr/>
        </p:nvSpPr>
        <p:spPr>
          <a:xfrm>
            <a:off x="0" y="0"/>
            <a:ext cx="12190320" cy="951120"/>
          </a:xfrm>
          <a:prstGeom prst="rect">
            <a:avLst/>
          </a:prstGeom>
          <a:solidFill>
            <a:srgbClr val="197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9" name="Rounded Rectangle 2"/>
          <p:cNvSpPr/>
          <p:nvPr/>
        </p:nvSpPr>
        <p:spPr>
          <a:xfrm>
            <a:off x="666720" y="247680"/>
            <a:ext cx="55800" cy="455760"/>
          </a:xfrm>
          <a:prstGeom prst="roundRect">
            <a:avLst>
              <a:gd name="adj" fmla="val 333300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0" name="TextBox 3"/>
          <p:cNvSpPr/>
          <p:nvPr/>
        </p:nvSpPr>
        <p:spPr>
          <a:xfrm>
            <a:off x="876240" y="173880"/>
            <a:ext cx="3601080" cy="60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3900"/>
              </a:lnSpc>
            </a:pPr>
            <a:r>
              <a:rPr b="1" lang="en-US" sz="2390" strike="noStrike" u="none">
                <a:solidFill>
                  <a:srgbClr val="ffffff"/>
                </a:solidFill>
                <a:effectLst/>
                <a:uFillTx/>
                <a:latin typeface="Montserrat"/>
              </a:rPr>
              <a:t>Challenges &amp; Solutions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Rounded Rectangle 4"/>
          <p:cNvSpPr/>
          <p:nvPr/>
        </p:nvSpPr>
        <p:spPr>
          <a:xfrm>
            <a:off x="666720" y="1143000"/>
            <a:ext cx="10856880" cy="106524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2" name="Rounded Rectangle 5"/>
          <p:cNvSpPr/>
          <p:nvPr/>
        </p:nvSpPr>
        <p:spPr>
          <a:xfrm>
            <a:off x="819000" y="1409760"/>
            <a:ext cx="532080" cy="532080"/>
          </a:xfrm>
          <a:prstGeom prst="roundRect">
            <a:avLst>
              <a:gd name="adj" fmla="val 35710714"/>
            </a:avLst>
          </a:prstGeom>
          <a:gradFill rotWithShape="0">
            <a:gsLst>
              <a:gs pos="0">
                <a:srgbClr val="ef4444"/>
              </a:gs>
              <a:gs pos="100000">
                <a:srgbClr val="dc2626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3" name="TextBox 6"/>
          <p:cNvSpPr/>
          <p:nvPr/>
        </p:nvSpPr>
        <p:spPr>
          <a:xfrm>
            <a:off x="819000" y="1409760"/>
            <a:ext cx="532080" cy="53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1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4" name="Picture 7" descr="image.png"/>
          <p:cNvPicPr/>
          <p:nvPr/>
        </p:nvPicPr>
        <p:blipFill>
          <a:blip r:embed="rId1"/>
          <a:stretch/>
        </p:blipFill>
        <p:spPr>
          <a:xfrm>
            <a:off x="1695240" y="1445760"/>
            <a:ext cx="22716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5" name="TextBox 8"/>
          <p:cNvSpPr/>
          <p:nvPr/>
        </p:nvSpPr>
        <p:spPr>
          <a:xfrm>
            <a:off x="2000160" y="1409760"/>
            <a:ext cx="171288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Servo Motor Precision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TextBox 9"/>
          <p:cNvSpPr/>
          <p:nvPr/>
        </p:nvSpPr>
        <p:spPr>
          <a:xfrm>
            <a:off x="1695240" y="1771560"/>
            <a:ext cx="33609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Inconsistent dispensing angles and jerky movements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7" name="Picture 10" descr="image.png"/>
          <p:cNvPicPr/>
          <p:nvPr/>
        </p:nvPicPr>
        <p:blipFill>
          <a:blip r:embed="rId2"/>
          <a:stretch/>
        </p:blipFill>
        <p:spPr>
          <a:xfrm>
            <a:off x="5486400" y="1555200"/>
            <a:ext cx="341280" cy="24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8" name="Rounded Rectangle 11"/>
          <p:cNvSpPr/>
          <p:nvPr/>
        </p:nvSpPr>
        <p:spPr>
          <a:xfrm>
            <a:off x="6095880" y="1295280"/>
            <a:ext cx="5275440" cy="76068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79" name="Picture 12" descr="image.png"/>
          <p:cNvPicPr/>
          <p:nvPr/>
        </p:nvPicPr>
        <p:blipFill>
          <a:blip r:embed="rId3"/>
          <a:stretch/>
        </p:blipFill>
        <p:spPr>
          <a:xfrm>
            <a:off x="6248160" y="1461960"/>
            <a:ext cx="189000" cy="16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0" name="TextBox 13"/>
          <p:cNvSpPr/>
          <p:nvPr/>
        </p:nvSpPr>
        <p:spPr>
          <a:xfrm>
            <a:off x="6514920" y="1428840"/>
            <a:ext cx="1513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1" lang="en-US" sz="96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Solution Implemented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TextBox 14"/>
          <p:cNvSpPr/>
          <p:nvPr/>
        </p:nvSpPr>
        <p:spPr>
          <a:xfrm>
            <a:off x="6248160" y="1752480"/>
            <a:ext cx="50086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374151"/>
                </a:solidFill>
                <a:effectLst/>
                <a:uFillTx/>
                <a:latin typeface="Roboto"/>
              </a:rPr>
              <a:t>Calibration routine with feedback control system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Rounded Rectangle 15"/>
          <p:cNvSpPr/>
          <p:nvPr/>
        </p:nvSpPr>
        <p:spPr>
          <a:xfrm>
            <a:off x="666720" y="2362320"/>
            <a:ext cx="10856880" cy="106524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3" name="Rounded Rectangle 16"/>
          <p:cNvSpPr/>
          <p:nvPr/>
        </p:nvSpPr>
        <p:spPr>
          <a:xfrm>
            <a:off x="819000" y="2629080"/>
            <a:ext cx="532080" cy="532080"/>
          </a:xfrm>
          <a:prstGeom prst="roundRect">
            <a:avLst>
              <a:gd name="adj" fmla="val 35710714"/>
            </a:avLst>
          </a:prstGeom>
          <a:gradFill rotWithShape="0">
            <a:gsLst>
              <a:gs pos="0">
                <a:srgbClr val="f97316"/>
              </a:gs>
              <a:gs pos="100000">
                <a:srgbClr val="ea580c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4" name="TextBox 17"/>
          <p:cNvSpPr/>
          <p:nvPr/>
        </p:nvSpPr>
        <p:spPr>
          <a:xfrm>
            <a:off x="819000" y="2629080"/>
            <a:ext cx="532080" cy="53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2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5" name="Picture 18" descr="image.png"/>
          <p:cNvPicPr/>
          <p:nvPr/>
        </p:nvPicPr>
        <p:blipFill>
          <a:blip r:embed="rId4"/>
          <a:stretch/>
        </p:blipFill>
        <p:spPr>
          <a:xfrm>
            <a:off x="1695240" y="2688120"/>
            <a:ext cx="227160" cy="14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6" name="TextBox 19"/>
          <p:cNvSpPr/>
          <p:nvPr/>
        </p:nvSpPr>
        <p:spPr>
          <a:xfrm>
            <a:off x="2000160" y="2629080"/>
            <a:ext cx="188460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IR Sensor False Triggers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TextBox 20"/>
          <p:cNvSpPr/>
          <p:nvPr/>
        </p:nvSpPr>
        <p:spPr>
          <a:xfrm>
            <a:off x="1695240" y="2990880"/>
            <a:ext cx="33609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Spurious detections from ambient light interference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8" name="Picture 21" descr="image.png"/>
          <p:cNvPicPr/>
          <p:nvPr/>
        </p:nvPicPr>
        <p:blipFill>
          <a:blip r:embed="rId5"/>
          <a:stretch/>
        </p:blipFill>
        <p:spPr>
          <a:xfrm>
            <a:off x="5486400" y="2774520"/>
            <a:ext cx="341280" cy="24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9" name="Rounded Rectangle 22"/>
          <p:cNvSpPr/>
          <p:nvPr/>
        </p:nvSpPr>
        <p:spPr>
          <a:xfrm>
            <a:off x="6095880" y="2514600"/>
            <a:ext cx="5275440" cy="76068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90" name="Picture 23" descr="image.png"/>
          <p:cNvPicPr/>
          <p:nvPr/>
        </p:nvPicPr>
        <p:blipFill>
          <a:blip r:embed="rId6"/>
          <a:stretch/>
        </p:blipFill>
        <p:spPr>
          <a:xfrm>
            <a:off x="6248160" y="2680920"/>
            <a:ext cx="189000" cy="16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1" name="TextBox 24"/>
          <p:cNvSpPr/>
          <p:nvPr/>
        </p:nvSpPr>
        <p:spPr>
          <a:xfrm>
            <a:off x="6514920" y="2647800"/>
            <a:ext cx="1513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1" lang="en-US" sz="96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Solution Implemented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TextBox 25"/>
          <p:cNvSpPr/>
          <p:nvPr/>
        </p:nvSpPr>
        <p:spPr>
          <a:xfrm>
            <a:off x="6248160" y="2971800"/>
            <a:ext cx="50086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374151"/>
                </a:solidFill>
                <a:effectLst/>
                <a:uFillTx/>
                <a:latin typeface="Roboto"/>
              </a:rPr>
              <a:t>Debounce logic with adjustable sensitivity threshold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Rounded Rectangle 48"/>
          <p:cNvSpPr/>
          <p:nvPr/>
        </p:nvSpPr>
        <p:spPr>
          <a:xfrm>
            <a:off x="666720" y="3643920"/>
            <a:ext cx="10856880" cy="106524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4" name="Rounded Rectangle 49"/>
          <p:cNvSpPr/>
          <p:nvPr/>
        </p:nvSpPr>
        <p:spPr>
          <a:xfrm>
            <a:off x="819000" y="3910680"/>
            <a:ext cx="532080" cy="532080"/>
          </a:xfrm>
          <a:prstGeom prst="roundRect">
            <a:avLst>
              <a:gd name="adj" fmla="val 35710714"/>
            </a:avLst>
          </a:prstGeom>
          <a:gradFill rotWithShape="0">
            <a:gsLst>
              <a:gs pos="0">
                <a:srgbClr val="a855f7"/>
              </a:gs>
              <a:gs pos="100000">
                <a:srgbClr val="9333ea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5" name="TextBox 50"/>
          <p:cNvSpPr/>
          <p:nvPr/>
        </p:nvSpPr>
        <p:spPr>
          <a:xfrm>
            <a:off x="819000" y="4006440"/>
            <a:ext cx="23328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3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6" name="Picture 51" descr="image.png"/>
          <p:cNvPicPr/>
          <p:nvPr/>
        </p:nvPicPr>
        <p:blipFill>
          <a:blip r:embed="rId7"/>
          <a:stretch/>
        </p:blipFill>
        <p:spPr>
          <a:xfrm>
            <a:off x="1695240" y="3955320"/>
            <a:ext cx="227160" cy="17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7" name="TextBox 52"/>
          <p:cNvSpPr/>
          <p:nvPr/>
        </p:nvSpPr>
        <p:spPr>
          <a:xfrm>
            <a:off x="2000160" y="3910680"/>
            <a:ext cx="18367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WiFi Connectivity Drops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TextBox 53"/>
          <p:cNvSpPr/>
          <p:nvPr/>
        </p:nvSpPr>
        <p:spPr>
          <a:xfrm>
            <a:off x="1695240" y="4272480"/>
            <a:ext cx="33609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Intermittent ESP-32 connection to cloud server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9" name="Picture 54" descr="image.png"/>
          <p:cNvPicPr/>
          <p:nvPr/>
        </p:nvPicPr>
        <p:blipFill>
          <a:blip r:embed="rId8"/>
          <a:stretch/>
        </p:blipFill>
        <p:spPr>
          <a:xfrm>
            <a:off x="5486400" y="4056120"/>
            <a:ext cx="341280" cy="24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0" name="Rounded Rectangle 55"/>
          <p:cNvSpPr/>
          <p:nvPr/>
        </p:nvSpPr>
        <p:spPr>
          <a:xfrm>
            <a:off x="6095880" y="3796200"/>
            <a:ext cx="5275440" cy="76068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01" name="Picture 56" descr="image.png"/>
          <p:cNvPicPr/>
          <p:nvPr/>
        </p:nvPicPr>
        <p:blipFill>
          <a:blip r:embed="rId9"/>
          <a:stretch/>
        </p:blipFill>
        <p:spPr>
          <a:xfrm>
            <a:off x="6248160" y="3962520"/>
            <a:ext cx="189000" cy="16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2" name="TextBox 57"/>
          <p:cNvSpPr/>
          <p:nvPr/>
        </p:nvSpPr>
        <p:spPr>
          <a:xfrm>
            <a:off x="6514920" y="3929400"/>
            <a:ext cx="1513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1" lang="en-US" sz="96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Solution Implemented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TextBox 58"/>
          <p:cNvSpPr/>
          <p:nvPr/>
        </p:nvSpPr>
        <p:spPr>
          <a:xfrm>
            <a:off x="6248160" y="4253400"/>
            <a:ext cx="50086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374151"/>
                </a:solidFill>
                <a:effectLst/>
                <a:uFillTx/>
                <a:latin typeface="Roboto"/>
              </a:rPr>
              <a:t>Auto-reconnection logic with robust error handling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PlaceHolder 1"/>
          <p:cNvSpPr>
            <a:spLocks noGrp="1"/>
          </p:cNvSpPr>
          <p:nvPr>
            <p:ph type="sldNum" idx="48"/>
          </p:nvPr>
        </p:nvSpPr>
        <p:spPr>
          <a:xfrm>
            <a:off x="10059480" y="649404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BAC9527-C52D-415D-96FF-47FF68042DA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9fafb"/>
            </a:gs>
            <a:gs pos="100000">
              <a:srgbClr val="eff6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Rectangle 1"/>
          <p:cNvSpPr/>
          <p:nvPr/>
        </p:nvSpPr>
        <p:spPr>
          <a:xfrm>
            <a:off x="0" y="0"/>
            <a:ext cx="12190320" cy="951120"/>
          </a:xfrm>
          <a:prstGeom prst="rect">
            <a:avLst/>
          </a:prstGeom>
          <a:solidFill>
            <a:srgbClr val="197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6" name="Rounded Rectangle 2"/>
          <p:cNvSpPr/>
          <p:nvPr/>
        </p:nvSpPr>
        <p:spPr>
          <a:xfrm>
            <a:off x="666720" y="247680"/>
            <a:ext cx="55800" cy="455760"/>
          </a:xfrm>
          <a:prstGeom prst="roundRect">
            <a:avLst>
              <a:gd name="adj" fmla="val 333300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7" name="TextBox 3"/>
          <p:cNvSpPr/>
          <p:nvPr/>
        </p:nvSpPr>
        <p:spPr>
          <a:xfrm>
            <a:off x="876240" y="190440"/>
            <a:ext cx="6989760" cy="57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3900"/>
              </a:lnSpc>
            </a:pPr>
            <a:r>
              <a:rPr b="1" lang="en-US" sz="2390" strike="noStrike" u="none">
                <a:solidFill>
                  <a:srgbClr val="ffffff"/>
                </a:solidFill>
                <a:effectLst/>
                <a:uFillTx/>
                <a:latin typeface="Montserrat"/>
              </a:rPr>
              <a:t>Future Enhancements &amp; Scalability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Rounded Rectangle 4"/>
          <p:cNvSpPr/>
          <p:nvPr/>
        </p:nvSpPr>
        <p:spPr>
          <a:xfrm>
            <a:off x="666720" y="1181160"/>
            <a:ext cx="3494160" cy="154152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09" name="Picture 5" descr="image.png"/>
          <p:cNvPicPr/>
          <p:nvPr/>
        </p:nvPicPr>
        <p:blipFill>
          <a:blip r:embed="rId1"/>
          <a:stretch/>
        </p:blipFill>
        <p:spPr>
          <a:xfrm>
            <a:off x="857160" y="1420560"/>
            <a:ext cx="284400" cy="24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0" name="TextBox 6"/>
          <p:cNvSpPr/>
          <p:nvPr/>
        </p:nvSpPr>
        <p:spPr>
          <a:xfrm>
            <a:off x="1257120" y="1373760"/>
            <a:ext cx="20653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Multi-Medicine Dispensing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TextBox 7"/>
          <p:cNvSpPr/>
          <p:nvPr/>
        </p:nvSpPr>
        <p:spPr>
          <a:xfrm>
            <a:off x="857160" y="1828800"/>
            <a:ext cx="311328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</a:t>
            </a:r>
            <a:r>
              <a:rPr b="0" lang="en-US" sz="111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</a:t>
            </a: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Separate compartments for different medications 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2" name="Picture 8" descr="image.png"/>
          <p:cNvPicPr/>
          <p:nvPr/>
        </p:nvPicPr>
        <p:blipFill>
          <a:blip r:embed="rId2"/>
          <a:stretch/>
        </p:blipFill>
        <p:spPr>
          <a:xfrm>
            <a:off x="857160" y="1905120"/>
            <a:ext cx="150840" cy="11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3" name="TextBox 9"/>
          <p:cNvSpPr/>
          <p:nvPr/>
        </p:nvSpPr>
        <p:spPr>
          <a:xfrm>
            <a:off x="857160" y="2286000"/>
            <a:ext cx="31132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2880" rIns="73080" tIns="54720" bIns="54720" anchor="ctr">
            <a:spAutoFit/>
          </a:bodyPr>
          <a:p>
            <a:pPr defTabSz="457200">
              <a:lnSpc>
                <a:spcPts val="1301"/>
              </a:lnSpc>
              <a:spcBef>
                <a:spcPts val="519"/>
              </a:spcBef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</a:t>
            </a:r>
            <a:r>
              <a:rPr b="0" lang="en-US" sz="111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</a:t>
            </a: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Independent scheduling for each medicine 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4" name="Picture 10" descr="image.png"/>
          <p:cNvPicPr/>
          <p:nvPr/>
        </p:nvPicPr>
        <p:blipFill>
          <a:blip r:embed="rId3"/>
          <a:stretch/>
        </p:blipFill>
        <p:spPr>
          <a:xfrm>
            <a:off x="857160" y="2362320"/>
            <a:ext cx="150840" cy="11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5" name="Rounded Rectangle 11"/>
          <p:cNvSpPr/>
          <p:nvPr/>
        </p:nvSpPr>
        <p:spPr>
          <a:xfrm>
            <a:off x="4352760" y="1181160"/>
            <a:ext cx="3494160" cy="154152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16" name="Picture 12" descr="image.png"/>
          <p:cNvPicPr/>
          <p:nvPr/>
        </p:nvPicPr>
        <p:blipFill>
          <a:blip r:embed="rId4"/>
          <a:stretch/>
        </p:blipFill>
        <p:spPr>
          <a:xfrm>
            <a:off x="4543200" y="1409040"/>
            <a:ext cx="284400" cy="26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7" name="TextBox 13"/>
          <p:cNvSpPr/>
          <p:nvPr/>
        </p:nvSpPr>
        <p:spPr>
          <a:xfrm>
            <a:off x="4943520" y="1373760"/>
            <a:ext cx="143676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Mobile Application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TextBox 14"/>
          <p:cNvSpPr/>
          <p:nvPr/>
        </p:nvSpPr>
        <p:spPr>
          <a:xfrm>
            <a:off x="4543200" y="1828800"/>
            <a:ext cx="31132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28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</a:t>
            </a:r>
            <a:r>
              <a:rPr b="0" lang="en-US" sz="111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</a:t>
            </a: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Remote monitoring via smartphone 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9" name="Picture 15" descr="image.png"/>
          <p:cNvPicPr/>
          <p:nvPr/>
        </p:nvPicPr>
        <p:blipFill>
          <a:blip r:embed="rId5"/>
          <a:stretch/>
        </p:blipFill>
        <p:spPr>
          <a:xfrm>
            <a:off x="4543200" y="1905120"/>
            <a:ext cx="150840" cy="11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0" name="TextBox 16"/>
          <p:cNvSpPr/>
          <p:nvPr/>
        </p:nvSpPr>
        <p:spPr>
          <a:xfrm>
            <a:off x="4543200" y="2152800"/>
            <a:ext cx="31132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2880" rIns="73080" tIns="54720" bIns="54720" anchor="ctr">
            <a:spAutoFit/>
          </a:bodyPr>
          <a:p>
            <a:pPr defTabSz="457200">
              <a:lnSpc>
                <a:spcPts val="1301"/>
              </a:lnSpc>
              <a:spcBef>
                <a:spcPts val="519"/>
              </a:spcBef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</a:t>
            </a:r>
            <a:r>
              <a:rPr b="0" lang="en-US" sz="111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</a:t>
            </a: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Push notifications for missed doses 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1" name="Picture 17" descr="image.png"/>
          <p:cNvPicPr/>
          <p:nvPr/>
        </p:nvPicPr>
        <p:blipFill>
          <a:blip r:embed="rId6"/>
          <a:stretch/>
        </p:blipFill>
        <p:spPr>
          <a:xfrm>
            <a:off x="4543200" y="2228760"/>
            <a:ext cx="150840" cy="11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2" name="Rounded Rectangle 18"/>
          <p:cNvSpPr/>
          <p:nvPr/>
        </p:nvSpPr>
        <p:spPr>
          <a:xfrm>
            <a:off x="8029440" y="1181160"/>
            <a:ext cx="3494160" cy="154152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23" name="Picture 19" descr="image.png"/>
          <p:cNvPicPr/>
          <p:nvPr/>
        </p:nvPicPr>
        <p:blipFill>
          <a:blip r:embed="rId7"/>
          <a:stretch/>
        </p:blipFill>
        <p:spPr>
          <a:xfrm>
            <a:off x="8219880" y="1441080"/>
            <a:ext cx="284400" cy="20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4" name="TextBox 20"/>
          <p:cNvSpPr/>
          <p:nvPr/>
        </p:nvSpPr>
        <p:spPr>
          <a:xfrm>
            <a:off x="8619840" y="1337040"/>
            <a:ext cx="1362240" cy="3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Cloud Integration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TextBox 21"/>
          <p:cNvSpPr/>
          <p:nvPr/>
        </p:nvSpPr>
        <p:spPr>
          <a:xfrm>
            <a:off x="8219880" y="1828800"/>
            <a:ext cx="31132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28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</a:t>
            </a:r>
            <a:r>
              <a:rPr b="0" lang="en-US" sz="111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</a:t>
            </a: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Patient compliance database 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6" name="Picture 22" descr="image.png"/>
          <p:cNvPicPr/>
          <p:nvPr/>
        </p:nvPicPr>
        <p:blipFill>
          <a:blip r:embed="rId8"/>
          <a:stretch/>
        </p:blipFill>
        <p:spPr>
          <a:xfrm>
            <a:off x="8219880" y="1905120"/>
            <a:ext cx="150840" cy="11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7" name="TextBox 23"/>
          <p:cNvSpPr/>
          <p:nvPr/>
        </p:nvSpPr>
        <p:spPr>
          <a:xfrm>
            <a:off x="8219880" y="2152800"/>
            <a:ext cx="31132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2880" rIns="73080" tIns="54720" bIns="54720" anchor="ctr">
            <a:spAutoFit/>
          </a:bodyPr>
          <a:p>
            <a:pPr defTabSz="457200">
              <a:lnSpc>
                <a:spcPts val="1301"/>
              </a:lnSpc>
              <a:spcBef>
                <a:spcPts val="519"/>
              </a:spcBef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</a:t>
            </a:r>
            <a:r>
              <a:rPr b="0" lang="en-US" sz="111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</a:t>
            </a: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Caregiver/doctor access portal 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8" name="Picture 24" descr="image.png"/>
          <p:cNvPicPr/>
          <p:nvPr/>
        </p:nvPicPr>
        <p:blipFill>
          <a:blip r:embed="rId9"/>
          <a:stretch/>
        </p:blipFill>
        <p:spPr>
          <a:xfrm>
            <a:off x="8219880" y="2228760"/>
            <a:ext cx="150840" cy="11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9" name="Rounded Rectangle 25"/>
          <p:cNvSpPr/>
          <p:nvPr/>
        </p:nvSpPr>
        <p:spPr>
          <a:xfrm>
            <a:off x="666720" y="2914560"/>
            <a:ext cx="5332320" cy="140832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30" name="Picture 26" descr="image.png"/>
          <p:cNvPicPr/>
          <p:nvPr/>
        </p:nvPicPr>
        <p:blipFill>
          <a:blip r:embed="rId10"/>
          <a:stretch/>
        </p:blipFill>
        <p:spPr>
          <a:xfrm>
            <a:off x="857160" y="3153960"/>
            <a:ext cx="284400" cy="24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1" name="TextBox 27"/>
          <p:cNvSpPr/>
          <p:nvPr/>
        </p:nvSpPr>
        <p:spPr>
          <a:xfrm>
            <a:off x="1257120" y="3143160"/>
            <a:ext cx="153216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User Authentication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TextBox 28"/>
          <p:cNvSpPr/>
          <p:nvPr/>
        </p:nvSpPr>
        <p:spPr>
          <a:xfrm>
            <a:off x="857160" y="3562200"/>
            <a:ext cx="495144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28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</a:t>
            </a:r>
            <a:r>
              <a:rPr b="0" lang="en-US" sz="111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</a:t>
            </a: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Biometric identification (fingerprint/face) 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3" name="Picture 29" descr="image.png"/>
          <p:cNvPicPr/>
          <p:nvPr/>
        </p:nvPicPr>
        <p:blipFill>
          <a:blip r:embed="rId11"/>
          <a:stretch/>
        </p:blipFill>
        <p:spPr>
          <a:xfrm>
            <a:off x="857160" y="3638520"/>
            <a:ext cx="150840" cy="11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4" name="TextBox 30"/>
          <p:cNvSpPr/>
          <p:nvPr/>
        </p:nvSpPr>
        <p:spPr>
          <a:xfrm>
            <a:off x="857160" y="3886200"/>
            <a:ext cx="495144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2880" rIns="73080" tIns="54720" bIns="54720" anchor="ctr">
            <a:spAutoFit/>
          </a:bodyPr>
          <a:p>
            <a:pPr defTabSz="457200">
              <a:lnSpc>
                <a:spcPts val="1301"/>
              </a:lnSpc>
              <a:spcBef>
                <a:spcPts val="519"/>
              </a:spcBef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</a:t>
            </a:r>
            <a:r>
              <a:rPr b="0" lang="en-US" sz="111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</a:t>
            </a: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Secure medicine access control 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5" name="Picture 31" descr="image.png"/>
          <p:cNvPicPr/>
          <p:nvPr/>
        </p:nvPicPr>
        <p:blipFill>
          <a:blip r:embed="rId12"/>
          <a:stretch/>
        </p:blipFill>
        <p:spPr>
          <a:xfrm>
            <a:off x="857160" y="3962520"/>
            <a:ext cx="150840" cy="11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6" name="Rounded Rectangle 32"/>
          <p:cNvSpPr/>
          <p:nvPr/>
        </p:nvSpPr>
        <p:spPr>
          <a:xfrm>
            <a:off x="6190920" y="2914560"/>
            <a:ext cx="5332320" cy="140832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37" name="Picture 33" descr="image.png"/>
          <p:cNvPicPr/>
          <p:nvPr/>
        </p:nvPicPr>
        <p:blipFill>
          <a:blip r:embed="rId13"/>
          <a:stretch/>
        </p:blipFill>
        <p:spPr>
          <a:xfrm>
            <a:off x="6381720" y="3153960"/>
            <a:ext cx="284400" cy="24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8" name="TextBox 34"/>
          <p:cNvSpPr/>
          <p:nvPr/>
        </p:nvSpPr>
        <p:spPr>
          <a:xfrm>
            <a:off x="6781680" y="3070440"/>
            <a:ext cx="1298520" cy="3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Power Reliability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TextBox 35"/>
          <p:cNvSpPr/>
          <p:nvPr/>
        </p:nvSpPr>
        <p:spPr>
          <a:xfrm>
            <a:off x="6381720" y="3562200"/>
            <a:ext cx="495144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28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</a:t>
            </a:r>
            <a:r>
              <a:rPr b="0" lang="en-US" sz="111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</a:t>
            </a: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Battery backup system for uninterrupted operation 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0" name="Picture 36" descr="image.png"/>
          <p:cNvPicPr/>
          <p:nvPr/>
        </p:nvPicPr>
        <p:blipFill>
          <a:blip r:embed="rId14"/>
          <a:stretch/>
        </p:blipFill>
        <p:spPr>
          <a:xfrm>
            <a:off x="6381720" y="3638520"/>
            <a:ext cx="150840" cy="11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1" name="TextBox 37"/>
          <p:cNvSpPr/>
          <p:nvPr/>
        </p:nvSpPr>
        <p:spPr>
          <a:xfrm>
            <a:off x="6381720" y="3886200"/>
            <a:ext cx="495144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2880" rIns="73080" tIns="54720" bIns="54720" anchor="ctr">
            <a:spAutoFit/>
          </a:bodyPr>
          <a:p>
            <a:pPr defTabSz="457200">
              <a:lnSpc>
                <a:spcPts val="1301"/>
              </a:lnSpc>
              <a:spcBef>
                <a:spcPts val="519"/>
              </a:spcBef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</a:t>
            </a:r>
            <a:r>
              <a:rPr b="0" lang="en-US" sz="111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</a:t>
            </a: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 Low power consumption optimization 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2" name="Picture 38" descr="image.png"/>
          <p:cNvPicPr/>
          <p:nvPr/>
        </p:nvPicPr>
        <p:blipFill>
          <a:blip r:embed="rId15"/>
          <a:stretch/>
        </p:blipFill>
        <p:spPr>
          <a:xfrm>
            <a:off x="6381720" y="3962520"/>
            <a:ext cx="150840" cy="11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3" name="Rounded Rectangle 39"/>
          <p:cNvSpPr/>
          <p:nvPr/>
        </p:nvSpPr>
        <p:spPr>
          <a:xfrm>
            <a:off x="666720" y="4514760"/>
            <a:ext cx="2570400" cy="106524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44" name="Picture 40" descr="image.png"/>
          <p:cNvPicPr/>
          <p:nvPr/>
        </p:nvPicPr>
        <p:blipFill>
          <a:blip r:embed="rId16"/>
          <a:stretch/>
        </p:blipFill>
        <p:spPr>
          <a:xfrm>
            <a:off x="819000" y="4731120"/>
            <a:ext cx="227160" cy="17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5" name="TextBox 41"/>
          <p:cNvSpPr/>
          <p:nvPr/>
        </p:nvSpPr>
        <p:spPr>
          <a:xfrm>
            <a:off x="1123920" y="4705200"/>
            <a:ext cx="836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1" lang="en-US" sz="96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Voice Alerts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TextBox 42"/>
          <p:cNvSpPr/>
          <p:nvPr/>
        </p:nvSpPr>
        <p:spPr>
          <a:xfrm>
            <a:off x="819000" y="5048280"/>
            <a:ext cx="22654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Audio reminders for medication time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Rounded Rectangle 43"/>
          <p:cNvSpPr/>
          <p:nvPr/>
        </p:nvSpPr>
        <p:spPr>
          <a:xfrm>
            <a:off x="3429000" y="4514760"/>
            <a:ext cx="2570400" cy="106524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48" name="Picture 44" descr="image.png"/>
          <p:cNvPicPr/>
          <p:nvPr/>
        </p:nvPicPr>
        <p:blipFill>
          <a:blip r:embed="rId17"/>
          <a:stretch/>
        </p:blipFill>
        <p:spPr>
          <a:xfrm>
            <a:off x="3581280" y="4721040"/>
            <a:ext cx="227160" cy="19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9" name="TextBox 45"/>
          <p:cNvSpPr/>
          <p:nvPr/>
        </p:nvSpPr>
        <p:spPr>
          <a:xfrm>
            <a:off x="3886200" y="4705200"/>
            <a:ext cx="13795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1" lang="en-US" sz="96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7-Day Programming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TextBox 46"/>
          <p:cNvSpPr/>
          <p:nvPr/>
        </p:nvSpPr>
        <p:spPr>
          <a:xfrm>
            <a:off x="3581280" y="5048280"/>
            <a:ext cx="226548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Advance weekly schedule configuration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Rounded Rectangle 47"/>
          <p:cNvSpPr/>
          <p:nvPr/>
        </p:nvSpPr>
        <p:spPr>
          <a:xfrm>
            <a:off x="6190920" y="4514760"/>
            <a:ext cx="2570400" cy="106524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52" name="Picture 48" descr="image.png"/>
          <p:cNvPicPr/>
          <p:nvPr/>
        </p:nvPicPr>
        <p:blipFill>
          <a:blip r:embed="rId18"/>
          <a:stretch/>
        </p:blipFill>
        <p:spPr>
          <a:xfrm>
            <a:off x="6343560" y="4722480"/>
            <a:ext cx="22716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3" name="TextBox 49"/>
          <p:cNvSpPr/>
          <p:nvPr/>
        </p:nvSpPr>
        <p:spPr>
          <a:xfrm>
            <a:off x="6648120" y="4705200"/>
            <a:ext cx="14652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1" lang="en-US" sz="96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Environment Sensors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TextBox 50"/>
          <p:cNvSpPr/>
          <p:nvPr/>
        </p:nvSpPr>
        <p:spPr>
          <a:xfrm>
            <a:off x="6343560" y="5048280"/>
            <a:ext cx="22654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Temperature &amp; humidity monitoring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Rounded Rectangle 51"/>
          <p:cNvSpPr/>
          <p:nvPr/>
        </p:nvSpPr>
        <p:spPr>
          <a:xfrm>
            <a:off x="8953200" y="4514760"/>
            <a:ext cx="2570400" cy="106524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56" name="Picture 52" descr="image.png"/>
          <p:cNvPicPr/>
          <p:nvPr/>
        </p:nvPicPr>
        <p:blipFill>
          <a:blip r:embed="rId19"/>
          <a:stretch/>
        </p:blipFill>
        <p:spPr>
          <a:xfrm>
            <a:off x="9105840" y="4722480"/>
            <a:ext cx="22716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7" name="TextBox 53"/>
          <p:cNvSpPr/>
          <p:nvPr/>
        </p:nvSpPr>
        <p:spPr>
          <a:xfrm>
            <a:off x="9410400" y="4629960"/>
            <a:ext cx="111564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1" lang="en-US" sz="96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Portable Design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TextBox 54"/>
          <p:cNvSpPr/>
          <p:nvPr/>
        </p:nvSpPr>
        <p:spPr>
          <a:xfrm>
            <a:off x="9105840" y="5048280"/>
            <a:ext cx="22654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Compact enclosure for travel use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PlaceHolder 1"/>
          <p:cNvSpPr>
            <a:spLocks noGrp="1"/>
          </p:cNvSpPr>
          <p:nvPr>
            <p:ph type="sldNum" idx="49"/>
          </p:nvPr>
        </p:nvSpPr>
        <p:spPr>
          <a:xfrm>
            <a:off x="10059480" y="649404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5CD8D10-41E5-4CE3-8525-B1B695ADDFB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eff6ff"/>
            </a:gs>
            <a:gs pos="50000">
              <a:srgbClr val="ffffff"/>
            </a:gs>
            <a:gs pos="100000">
              <a:srgbClr val="eff6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Rectangle 1"/>
          <p:cNvSpPr/>
          <p:nvPr/>
        </p:nvSpPr>
        <p:spPr>
          <a:xfrm>
            <a:off x="0" y="0"/>
            <a:ext cx="12190320" cy="951120"/>
          </a:xfrm>
          <a:prstGeom prst="rect">
            <a:avLst/>
          </a:prstGeom>
          <a:solidFill>
            <a:srgbClr val="197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1" name="Rounded Rectangle 2"/>
          <p:cNvSpPr/>
          <p:nvPr/>
        </p:nvSpPr>
        <p:spPr>
          <a:xfrm>
            <a:off x="666720" y="247680"/>
            <a:ext cx="55800" cy="455760"/>
          </a:xfrm>
          <a:prstGeom prst="roundRect">
            <a:avLst>
              <a:gd name="adj" fmla="val 333300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2" name="TextBox 3"/>
          <p:cNvSpPr/>
          <p:nvPr/>
        </p:nvSpPr>
        <p:spPr>
          <a:xfrm>
            <a:off x="876240" y="190440"/>
            <a:ext cx="2208240" cy="57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3900"/>
              </a:lnSpc>
            </a:pPr>
            <a:r>
              <a:rPr b="1" lang="en-US" sz="2390" strike="noStrike" u="none">
                <a:solidFill>
                  <a:srgbClr val="ffffff"/>
                </a:solidFill>
                <a:effectLst/>
                <a:uFillTx/>
                <a:latin typeface="Montserrat"/>
              </a:rPr>
              <a:t>Conclusion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Rounded Rectangle 4"/>
          <p:cNvSpPr/>
          <p:nvPr/>
        </p:nvSpPr>
        <p:spPr>
          <a:xfrm>
            <a:off x="666720" y="1676520"/>
            <a:ext cx="5351400" cy="9129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4" name="Rounded Rectangle 5"/>
          <p:cNvSpPr/>
          <p:nvPr/>
        </p:nvSpPr>
        <p:spPr>
          <a:xfrm>
            <a:off x="857160" y="1866960"/>
            <a:ext cx="532080" cy="532080"/>
          </a:xfrm>
          <a:prstGeom prst="roundRect">
            <a:avLst>
              <a:gd name="adj" fmla="val 35710714"/>
            </a:avLst>
          </a:prstGeom>
          <a:gradFill rotWithShape="0">
            <a:gsLst>
              <a:gs pos="0">
                <a:srgbClr val="3b82f6"/>
              </a:gs>
              <a:gs pos="100000">
                <a:srgbClr val="2563eb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65" name="Picture 6" descr="image.png"/>
          <p:cNvPicPr/>
          <p:nvPr/>
        </p:nvPicPr>
        <p:blipFill>
          <a:blip r:embed="rId1"/>
          <a:stretch/>
        </p:blipFill>
        <p:spPr>
          <a:xfrm>
            <a:off x="981000" y="2005200"/>
            <a:ext cx="28440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6" name="TextBox 7"/>
          <p:cNvSpPr/>
          <p:nvPr/>
        </p:nvSpPr>
        <p:spPr>
          <a:xfrm>
            <a:off x="1542960" y="1886040"/>
            <a:ext cx="33037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  <a:spcAft>
                <a:spcPts val="261"/>
              </a:spcAft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System Successfully Developed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TextBox 8"/>
          <p:cNvSpPr/>
          <p:nvPr/>
        </p:nvSpPr>
        <p:spPr>
          <a:xfrm>
            <a:off x="1542960" y="2190600"/>
            <a:ext cx="330372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Automated medicine dispensing using Arduino platform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Rounded Rectangle 9"/>
          <p:cNvSpPr/>
          <p:nvPr/>
        </p:nvSpPr>
        <p:spPr>
          <a:xfrm>
            <a:off x="6172200" y="1676520"/>
            <a:ext cx="5351400" cy="9129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9" name="Rounded Rectangle 10"/>
          <p:cNvSpPr/>
          <p:nvPr/>
        </p:nvSpPr>
        <p:spPr>
          <a:xfrm>
            <a:off x="6362640" y="1866960"/>
            <a:ext cx="532080" cy="532080"/>
          </a:xfrm>
          <a:prstGeom prst="roundRect">
            <a:avLst>
              <a:gd name="adj" fmla="val 35710714"/>
            </a:avLst>
          </a:prstGeom>
          <a:gradFill rotWithShape="0">
            <a:gsLst>
              <a:gs pos="0">
                <a:srgbClr val="22c55e"/>
              </a:gs>
              <a:gs pos="100000">
                <a:srgbClr val="16a34a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70" name="Picture 11" descr="image.png"/>
          <p:cNvPicPr/>
          <p:nvPr/>
        </p:nvPicPr>
        <p:blipFill>
          <a:blip r:embed="rId2"/>
          <a:stretch/>
        </p:blipFill>
        <p:spPr>
          <a:xfrm>
            <a:off x="6486480" y="2032920"/>
            <a:ext cx="28440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1" name="TextBox 12"/>
          <p:cNvSpPr/>
          <p:nvPr/>
        </p:nvSpPr>
        <p:spPr>
          <a:xfrm>
            <a:off x="7048440" y="1886040"/>
            <a:ext cx="27799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  <a:spcAft>
                <a:spcPts val="261"/>
              </a:spcAft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High Accuracy Achieved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TextBox 13"/>
          <p:cNvSpPr/>
          <p:nvPr/>
        </p:nvSpPr>
        <p:spPr>
          <a:xfrm>
            <a:off x="7048440" y="2190600"/>
            <a:ext cx="277992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99.5% timing accuracy, 98% detection reliability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Rounded Rectangle 14"/>
          <p:cNvSpPr/>
          <p:nvPr/>
        </p:nvSpPr>
        <p:spPr>
          <a:xfrm>
            <a:off x="666720" y="2743200"/>
            <a:ext cx="5351400" cy="9129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4" name="Rounded Rectangle 15"/>
          <p:cNvSpPr/>
          <p:nvPr/>
        </p:nvSpPr>
        <p:spPr>
          <a:xfrm>
            <a:off x="857160" y="2933640"/>
            <a:ext cx="532080" cy="532080"/>
          </a:xfrm>
          <a:prstGeom prst="roundRect">
            <a:avLst>
              <a:gd name="adj" fmla="val 35710714"/>
            </a:avLst>
          </a:prstGeom>
          <a:gradFill rotWithShape="0">
            <a:gsLst>
              <a:gs pos="0">
                <a:srgbClr val="a855f7"/>
              </a:gs>
              <a:gs pos="100000">
                <a:srgbClr val="9333ea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75" name="Picture 16" descr="image.png"/>
          <p:cNvPicPr/>
          <p:nvPr/>
        </p:nvPicPr>
        <p:blipFill>
          <a:blip r:embed="rId3"/>
          <a:stretch/>
        </p:blipFill>
        <p:spPr>
          <a:xfrm>
            <a:off x="981000" y="3089520"/>
            <a:ext cx="284400" cy="22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6" name="TextBox 17"/>
          <p:cNvSpPr/>
          <p:nvPr/>
        </p:nvSpPr>
        <p:spPr>
          <a:xfrm>
            <a:off x="1542960" y="2952720"/>
            <a:ext cx="30085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  <a:spcAft>
                <a:spcPts val="261"/>
              </a:spcAft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User-Friendly Interface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TextBox 18"/>
          <p:cNvSpPr/>
          <p:nvPr/>
        </p:nvSpPr>
        <p:spPr>
          <a:xfrm>
            <a:off x="1542960" y="3257640"/>
            <a:ext cx="300852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Intuitive LCD display and keypad for easy operation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Rounded Rectangle 19"/>
          <p:cNvSpPr/>
          <p:nvPr/>
        </p:nvSpPr>
        <p:spPr>
          <a:xfrm>
            <a:off x="6172200" y="2743200"/>
            <a:ext cx="5351400" cy="9129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9" name="Rounded Rectangle 20"/>
          <p:cNvSpPr/>
          <p:nvPr/>
        </p:nvSpPr>
        <p:spPr>
          <a:xfrm>
            <a:off x="6362640" y="2933640"/>
            <a:ext cx="532080" cy="532080"/>
          </a:xfrm>
          <a:prstGeom prst="roundRect">
            <a:avLst>
              <a:gd name="adj" fmla="val 35710714"/>
            </a:avLst>
          </a:prstGeom>
          <a:gradFill rotWithShape="0">
            <a:gsLst>
              <a:gs pos="0">
                <a:srgbClr val="f97316"/>
              </a:gs>
              <a:gs pos="100000">
                <a:srgbClr val="ea580c"/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80" name="Picture 21" descr="image.png"/>
          <p:cNvPicPr/>
          <p:nvPr/>
        </p:nvPicPr>
        <p:blipFill>
          <a:blip r:embed="rId4"/>
          <a:stretch/>
        </p:blipFill>
        <p:spPr>
          <a:xfrm>
            <a:off x="6486480" y="3078000"/>
            <a:ext cx="284400" cy="24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1" name="TextBox 22"/>
          <p:cNvSpPr/>
          <p:nvPr/>
        </p:nvSpPr>
        <p:spPr>
          <a:xfrm>
            <a:off x="7048440" y="2952720"/>
            <a:ext cx="308448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  <a:spcAft>
                <a:spcPts val="261"/>
              </a:spcAft>
            </a:pPr>
            <a:r>
              <a:rPr b="1" lang="en-US" sz="107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Requirements Met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TextBox 23"/>
          <p:cNvSpPr/>
          <p:nvPr/>
        </p:nvSpPr>
        <p:spPr>
          <a:xfrm>
            <a:off x="7048440" y="3257640"/>
            <a:ext cx="30844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b="0" lang="en-US" sz="839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All design constraints and project objectives fulfilled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TextBox 26"/>
          <p:cNvSpPr/>
          <p:nvPr/>
        </p:nvSpPr>
        <p:spPr>
          <a:xfrm>
            <a:off x="1390680" y="4114800"/>
            <a:ext cx="569448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  <a:spcAft>
                <a:spcPts val="261"/>
              </a:spcAf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Healthcare Impact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PlaceHolder 1"/>
          <p:cNvSpPr>
            <a:spLocks noGrp="1"/>
          </p:cNvSpPr>
          <p:nvPr>
            <p:ph type="sldNum" idx="50"/>
          </p:nvPr>
        </p:nvSpPr>
        <p:spPr>
          <a:xfrm>
            <a:off x="10059480" y="649404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D41F747-A41C-46B2-A06A-9F26793AE72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eff6ff"/>
            </a:gs>
            <a:gs pos="50000">
              <a:srgbClr val="ffffff"/>
            </a:gs>
            <a:gs pos="100000">
              <a:srgbClr val="eff6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Rounded Rectangle 1"/>
          <p:cNvSpPr/>
          <p:nvPr/>
        </p:nvSpPr>
        <p:spPr>
          <a:xfrm>
            <a:off x="666720" y="247680"/>
            <a:ext cx="55800" cy="455760"/>
          </a:xfrm>
          <a:prstGeom prst="roundRect">
            <a:avLst>
              <a:gd name="adj" fmla="val 333300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6" name="Rounded Rectangle 66"/>
          <p:cNvSpPr/>
          <p:nvPr/>
        </p:nvSpPr>
        <p:spPr>
          <a:xfrm>
            <a:off x="378720" y="5146200"/>
            <a:ext cx="6249600" cy="989280"/>
          </a:xfrm>
          <a:prstGeom prst="roundRect">
            <a:avLst>
              <a:gd name="adj" fmla="val 23076"/>
            </a:avLst>
          </a:prstGeom>
          <a:gradFill rotWithShape="0">
            <a:gsLst>
              <a:gs pos="0">
                <a:srgbClr val="2563eb"/>
              </a:gs>
              <a:gs pos="100000">
                <a:srgbClr val="1d4ed8"/>
              </a:gs>
            </a:gsLst>
            <a:lin ang="108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87" name="Picture 46" descr="image.png"/>
          <p:cNvPicPr/>
          <p:nvPr/>
        </p:nvPicPr>
        <p:blipFill>
          <a:blip r:embed="rId1"/>
          <a:stretch/>
        </p:blipFill>
        <p:spPr>
          <a:xfrm>
            <a:off x="510480" y="5506920"/>
            <a:ext cx="195840" cy="26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8" name="TextBox 84"/>
          <p:cNvSpPr/>
          <p:nvPr/>
        </p:nvSpPr>
        <p:spPr>
          <a:xfrm>
            <a:off x="795600" y="5338080"/>
            <a:ext cx="156564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  <a:spcAft>
                <a:spcPts val="261"/>
              </a:spcAf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Roboto"/>
              </a:rPr>
              <a:t>Healthcare Impact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TextBox 85"/>
          <p:cNvSpPr/>
          <p:nvPr/>
        </p:nvSpPr>
        <p:spPr>
          <a:xfrm>
            <a:off x="795600" y="5640480"/>
            <a:ext cx="438876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960" strike="noStrike" u="none">
                <a:solidFill>
                  <a:srgbClr val="dbeafe"/>
                </a:solidFill>
                <a:effectLst/>
                <a:uFillTx/>
                <a:latin typeface="Roboto"/>
              </a:rPr>
              <a:t>Could greatly help patients take their medication and improve their health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TextBox 86"/>
          <p:cNvSpPr/>
          <p:nvPr/>
        </p:nvSpPr>
        <p:spPr>
          <a:xfrm>
            <a:off x="4841640" y="1784880"/>
            <a:ext cx="2154240" cy="7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4680"/>
              </a:lnSpc>
              <a:spcAft>
                <a:spcPts val="519"/>
              </a:spcAft>
            </a:pPr>
            <a:r>
              <a:rPr b="1" lang="en-US" sz="2870" strike="noStrike" u="none">
                <a:solidFill>
                  <a:srgbClr val="1976d2"/>
                </a:solidFill>
                <a:effectLst/>
                <a:uFillTx/>
                <a:latin typeface="Montserrat"/>
              </a:rPr>
              <a:t>Thank You!</a:t>
            </a:r>
            <a:endParaRPr b="0" lang="en-US" sz="2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TextBox 87"/>
          <p:cNvSpPr/>
          <p:nvPr/>
        </p:nvSpPr>
        <p:spPr>
          <a:xfrm>
            <a:off x="4859280" y="2518560"/>
            <a:ext cx="211860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1820"/>
              </a:lnSpc>
            </a:pPr>
            <a:r>
              <a:rPr b="0" lang="en-US" sz="120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For your attention and time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Rounded Rectangle 68"/>
          <p:cNvSpPr/>
          <p:nvPr/>
        </p:nvSpPr>
        <p:spPr>
          <a:xfrm>
            <a:off x="8019720" y="5105520"/>
            <a:ext cx="3503520" cy="1027440"/>
          </a:xfrm>
          <a:prstGeom prst="roundRect">
            <a:avLst>
              <a:gd name="adj" fmla="val 29629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93" name="Picture 49" descr="image.png"/>
          <p:cNvPicPr/>
          <p:nvPr/>
        </p:nvPicPr>
        <p:blipFill>
          <a:blip r:embed="rId2"/>
          <a:stretch/>
        </p:blipFill>
        <p:spPr>
          <a:xfrm>
            <a:off x="8248320" y="5427360"/>
            <a:ext cx="45576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4" name="TextBox 88"/>
          <p:cNvSpPr/>
          <p:nvPr/>
        </p:nvSpPr>
        <p:spPr>
          <a:xfrm>
            <a:off x="8858160" y="5299920"/>
            <a:ext cx="1157040" cy="37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081"/>
              </a:lnSpc>
              <a:spcAft>
                <a:spcPts val="261"/>
              </a:spcAft>
            </a:pPr>
            <a:r>
              <a:rPr b="1" lang="en-US" sz="1430" strike="noStrike" u="none">
                <a:solidFill>
                  <a:srgbClr val="1f2937"/>
                </a:solidFill>
                <a:effectLst/>
                <a:uFillTx/>
                <a:latin typeface="Roboto"/>
              </a:rPr>
              <a:t>Questions?</a:t>
            </a:r>
            <a:endParaRPr b="0" lang="en-US" sz="14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TextBox 89"/>
          <p:cNvSpPr/>
          <p:nvPr/>
        </p:nvSpPr>
        <p:spPr>
          <a:xfrm>
            <a:off x="8858160" y="5637600"/>
            <a:ext cx="223632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b="0" lang="en-US" sz="960" strike="noStrike" u="none">
                <a:solidFill>
                  <a:srgbClr val="4b5563"/>
                </a:solidFill>
                <a:effectLst/>
                <a:uFillTx/>
                <a:latin typeface="Roboto"/>
              </a:rPr>
              <a:t>We're happy to address your queries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PlaceHolder 1"/>
          <p:cNvSpPr>
            <a:spLocks noGrp="1"/>
          </p:cNvSpPr>
          <p:nvPr>
            <p:ph type="sldNum" idx="51"/>
          </p:nvPr>
        </p:nvSpPr>
        <p:spPr>
          <a:xfrm>
            <a:off x="10059480" y="649080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315BFED-66B9-4FB5-A4F5-FFBE4ED43B1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</TotalTime>
  <Application>LibreOffice/25.2.3.2$Linux_X86_64 LibreOffice_project/520$Build-2</Application>
  <AppVersion>15.0000</AppVersion>
  <Words>1186</Words>
  <Paragraphs>373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2026-04-24T22:59:58Z</dcterms:modified>
  <cp:revision>10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15</vt:i4>
  </property>
</Properties>
</file>